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LLM only</c:v>
                </c:pt>
              </c:strCache>
            </c:strRef>
          </c:tx>
          <c:spPr>
            <a:solidFill>
              <a:srgbClr val="B8B3C7"/>
            </a:solidFill>
            <a:effectLst/>
          </c:spPr>
          <c:invertIfNegative val="0"/>
          <c:dLbls>
            <c:numFmt formatCode="0.00" sourceLinked="0"/>
            <c:txPr>
              <a:bodyPr/>
              <a:lstStyle/>
              <a:p>
                <a:pPr>
                  <a:defRPr b="0" i="0" strike="noStrike" sz="14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Precision</c:v>
                  </c:pt>
                  <c:pt idx="1">
                    <c:v>Recall</c:v>
                  </c:pt>
                </c:lvl>
              </c:multiLvlStrCache>
            </c:multiLvlStrRef>
          </c:cat>
          <c:val>
            <c:numRef>
              <c:f>Sheet1!$B$2:$B$3</c:f>
              <c:numCache>
                <c:formatCode>General</c:formatCode>
                <c:ptCount val="2"/>
                <c:pt idx="0">
                  <c:v>0.56</c:v>
                </c:pt>
                <c:pt idx="1">
                  <c:v>0.49</c:v>
                </c:pt>
              </c:numCache>
            </c:numRef>
          </c:val>
        </c:ser>
        <c:ser>
          <c:idx val="1"/>
          <c:order val="1"/>
          <c:tx>
            <c:strRef>
              <c:f>Sheet1!$C$1</c:f>
              <c:strCache>
                <c:ptCount val="1"/>
                <c:pt idx="0">
                  <c:v>CodeCare AI</c:v>
                </c:pt>
              </c:strCache>
            </c:strRef>
          </c:tx>
          <c:spPr>
            <a:solidFill>
              <a:srgbClr val="4B2A8C"/>
            </a:solidFill>
            <a:effectLst/>
          </c:spPr>
          <c:invertIfNegative val="0"/>
          <c:dLbls>
            <c:numFmt formatCode="0.00" sourceLinked="0"/>
            <c:txPr>
              <a:bodyPr/>
              <a:lstStyle/>
              <a:p>
                <a:pPr>
                  <a:defRPr b="0" i="0" strike="noStrike" sz="14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Precision</c:v>
                  </c:pt>
                  <c:pt idx="1">
                    <c:v>Recall</c:v>
                  </c:pt>
                </c:lvl>
              </c:multiLvlStrCache>
            </c:multiLvlStrRef>
          </c:cat>
          <c:val>
            <c:numRef>
              <c:f>Sheet1!$C$2:$C$3</c:f>
              <c:numCache>
                <c:formatCode>General</c:formatCode>
                <c:ptCount val="2"/>
                <c:pt idx="0">
                  <c:v>0.95</c:v>
                </c:pt>
                <c:pt idx="1">
                  <c:v>0.95</c:v>
                </c:pt>
              </c:numCache>
            </c:numRef>
          </c:val>
        </c:ser>
        <c:dLbls>
          <c:numFmt formatCode="0.00" sourceLinked="0"/>
          <c:txPr>
            <a:bodyPr/>
            <a:lstStyle/>
            <a:p>
              <a:pPr>
                <a:defRPr b="0" i="0" strike="noStrike" sz="14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600" b="0" i="0" u="none" strike="noStrike">
                <a:solidFill>
                  <a:srgbClr val="222222"/>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6E3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A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4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Pavan Bobba. I'm a software engineer, and my topic is Content Management in Health Care. Coding rules are written for people to read. But every claim needs an exact code. Today, medical coders turn long guidelines into those codes by hand. That's where a lot of claim errors start. So I built CodeCare AI. It's a coding assistant that turns the written guidelines into tested code, and shows the proof behind every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a quick look at how this works. A doctor sees a patient and writes a note. For example: type 2 diabetes with chronic kidney disease stage 3. A medical coder reads that note, finds the matching codes in the official government list, called ICD-10-CM, and sends them to the insurance company. The insurer uses those codes to decide how much to pay. But even this one line can confuse the coder. First, are the diabetes and the kidney disease linked? The doctor didn't say. The guidelines say to assume they are linked, unless the doctor says they're not. So the code is E11.22, not plain diabetes. Second, the kidney stage needs its own code, N18.30. Third, stage 3 has two types, 3a and 3b, and the note doesn't say which. So should the coder guess, or go back and ask the doctor? The right answer is to ask. When coders get this wrong, it costs money. Medicare made 28.8 billion dollars in improper payments in 2025. And when researchers tested AI models, the best one got these codes right only about a third of the time. So AI alone can't fix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solution follows one idea: the AI reads, and the code decides. The pink steps use AI. The purple steps are plain code I can test. First, the note is split into numbered sentences. The AI extracts the facts: each condition, its status, its details, and the sentence it came from. Then the code searches the official CMS code list and returns the top 20 real codes. The AI picks one, but only from that list, so it can't make up a code. Next is a rules engine with 12 rules from the official guidelines. Each rule is a small, tested Python function. They combine codes like E11.22, remove duplicates, and write a question for the doctor when a detail is missing. Finally, the coder accepts, edits, or rejects each code, and every decision is saved. So we get three promises: only real codes, proof for every code, and a human makes the final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show you the app. (Switch to the app.) This is the coder's screen. I'll paste a short note. It has type 2 diabetes, kidney disease stage 3, and the patient takes metformin. I choose established patient, set the date, and click Analyze. (Pause recording until results appear.) The note is on the left. The suggested codes are on the right. When I click E11.22, its sentence lights up in the note. Below it, you can see the rule results. The diabetes and kidney rule passed, so this code came from the rules, not from a guess by the AI. Here's N18.30. The note didn't say 3a or 3b, so the system wrote a question for the doctor. It doesn't suggest an answer. It also added Z79.84 because the patient takes metformin. I accept the code, and the decision is saved in the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tested it on 20 sample notes, using the same AI model two ways. On its own, the AI got about half the codes right and gave invalid codes 12 percent of the time. With CodeCare AI, accuracy went up to 95 percent, invalid codes dropped to zero, and it caught every missing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four recommendations for Cotiviti. First, test every rule the AI helps write. Each new rule in Payment Policy Management should pass test claims before an analyst approves it. Second, show the proof behind every finding: the chart sentence and the policy section. Third, automate the October 1st update. Find the rules each new code release affects, and rerun their tests before the codes go live. Fourth, measure AI before trusting it, and always compare it with an AI-only baseline. For future scope, I'd take CodeCare AI in three directions: a larger test set reviewed by certified coders, more rules beyond diabetes, kidney, and heart conditions, and procedure code checks, which I've already designed.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use AI to read, use code to decide, and keep the expert in charge. The code, the report, and this presentation are all on my GitHub. Thank you for your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1454"/>
        </a:solidFill>
      </p:bgPr>
    </p:bg>
    <p:spTree>
      <p:nvGrpSpPr>
        <p:cNvPr id="1" name=""/>
        <p:cNvGrpSpPr/>
        <p:nvPr/>
      </p:nvGrpSpPr>
      <p:grpSpPr>
        <a:xfrm>
          <a:off x="0" y="0"/>
          <a:ext cx="0" cy="0"/>
          <a:chOff x="0" y="0"/>
          <a:chExt cx="0" cy="0"/>
        </a:xfrm>
      </p:grpSpPr>
      <p:sp>
        <p:nvSpPr>
          <p:cNvPr id="2" name="Text 0"/>
          <p:cNvSpPr txBox="1"/>
          <p:nvPr/>
        </p:nvSpPr>
        <p:spPr>
          <a:xfrm>
            <a:off x="731520" y="1188720"/>
            <a:ext cx="10058400" cy="365760"/>
          </a:xfrm>
          <a:prstGeom prst="rect">
            <a:avLst/>
          </a:prstGeom>
          <a:noFill/>
          <a:ln/>
        </p:spPr>
        <p:txBody>
          <a:bodyPr wrap="square" lIns="0" tIns="0" rIns="0" bIns="0" rtlCol="0" anchor="ctr"/>
          <a:lstStyle/>
          <a:p>
            <a:pPr indent="0" marL="0">
              <a:buNone/>
            </a:pPr>
            <a:r>
              <a:rPr lang="en-US" sz="1600" b="1" spc="300" kern="0" dirty="0">
                <a:solidFill>
                  <a:srgbClr val="C9B8F0"/>
                </a:solidFill>
                <a:latin typeface="Calibri" pitchFamily="34" charset="0"/>
                <a:ea typeface="Calibri" pitchFamily="34" charset="-122"/>
                <a:cs typeface="Calibri" pitchFamily="34" charset="-120"/>
              </a:rPr>
              <a:t>CONTENT MANAGEMENT IN HEALTH CARE</a:t>
            </a:r>
            <a:endParaRPr lang="en-US" sz="1600" dirty="0"/>
          </a:p>
        </p:txBody>
      </p:sp>
      <p:sp>
        <p:nvSpPr>
          <p:cNvPr id="3" name="Text 1"/>
          <p:cNvSpPr txBox="1"/>
          <p:nvPr/>
        </p:nvSpPr>
        <p:spPr>
          <a:xfrm>
            <a:off x="731520" y="1645920"/>
            <a:ext cx="8961120" cy="137160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From Written Policy to Executable Rules</a:t>
            </a:r>
            <a:endParaRPr lang="en-US" sz="4600" dirty="0"/>
          </a:p>
        </p:txBody>
      </p:sp>
      <p:sp>
        <p:nvSpPr>
          <p:cNvPr id="4" name="Text 2"/>
          <p:cNvSpPr txBox="1"/>
          <p:nvPr/>
        </p:nvSpPr>
        <p:spPr>
          <a:xfrm>
            <a:off x="731520" y="3246120"/>
            <a:ext cx="8961120" cy="548640"/>
          </a:xfrm>
          <a:prstGeom prst="rect">
            <a:avLst/>
          </a:prstGeom>
          <a:noFill/>
          <a:ln/>
        </p:spPr>
        <p:txBody>
          <a:bodyPr wrap="square" lIns="0" tIns="0" rIns="0" bIns="0" rtlCol="0" anchor="ctr"/>
          <a:lstStyle/>
          <a:p>
            <a:pPr indent="0" marL="0">
              <a:buNone/>
            </a:pPr>
            <a:r>
              <a:rPr lang="en-US" sz="2200" i="1" dirty="0">
                <a:solidFill>
                  <a:srgbClr val="F28DB6"/>
                </a:solidFill>
                <a:latin typeface="Calibri" pitchFamily="34" charset="0"/>
                <a:ea typeface="Calibri" pitchFamily="34" charset="-122"/>
                <a:cs typeface="Calibri" pitchFamily="34" charset="-120"/>
              </a:rPr>
              <a:t>Coding policy is written for people. Claims need exact decisions.</a:t>
            </a:r>
            <a:endParaRPr lang="en-US" sz="2200" dirty="0"/>
          </a:p>
        </p:txBody>
      </p:sp>
      <p:sp>
        <p:nvSpPr>
          <p:cNvPr id="5" name="Text 3"/>
          <p:cNvSpPr txBox="1"/>
          <p:nvPr/>
        </p:nvSpPr>
        <p:spPr>
          <a:xfrm>
            <a:off x="731520" y="3886200"/>
            <a:ext cx="8961120" cy="457200"/>
          </a:xfrm>
          <a:prstGeom prst="rect">
            <a:avLst/>
          </a:prstGeom>
          <a:noFill/>
          <a:ln/>
        </p:spPr>
        <p:txBody>
          <a:bodyPr wrap="square" lIns="0" tIns="0" rIns="0" bIns="0" rtlCol="0" anchor="ctr"/>
          <a:lstStyle/>
          <a:p>
            <a:pPr indent="0" marL="0">
              <a:buNone/>
            </a:pPr>
            <a:r>
              <a:rPr lang="en-US" sz="2000" dirty="0">
                <a:solidFill>
                  <a:srgbClr val="DDD5F2"/>
                </a:solidFill>
                <a:latin typeface="Calibri" pitchFamily="34" charset="0"/>
                <a:ea typeface="Calibri" pitchFamily="34" charset="-122"/>
                <a:cs typeface="Calibri" pitchFamily="34" charset="-120"/>
              </a:rPr>
              <a:t>CodeCare AI: an explainable ICD-10-CM coding copilot</a:t>
            </a:r>
            <a:endParaRPr lang="en-US" sz="2000" dirty="0"/>
          </a:p>
        </p:txBody>
      </p:sp>
      <p:sp>
        <p:nvSpPr>
          <p:cNvPr id="6" name="Text 4"/>
          <p:cNvSpPr txBox="1"/>
          <p:nvPr/>
        </p:nvSpPr>
        <p:spPr>
          <a:xfrm>
            <a:off x="731520" y="5852160"/>
            <a:ext cx="10058400" cy="365760"/>
          </a:xfrm>
          <a:prstGeom prst="rect">
            <a:avLst/>
          </a:prstGeom>
          <a:noFill/>
          <a:ln/>
        </p:spPr>
        <p:txBody>
          <a:bodyPr wrap="square" lIns="0" tIns="0" rIns="0" bIns="0" rtlCol="0" anchor="ctr"/>
          <a:lstStyle/>
          <a:p>
            <a:pPr indent="0" marL="0">
              <a:buNone/>
            </a:pPr>
            <a:r>
              <a:rPr lang="en-US" sz="1400" dirty="0">
                <a:solidFill>
                  <a:srgbClr val="B7A8DE"/>
                </a:solidFill>
                <a:latin typeface="Calibri" pitchFamily="34" charset="0"/>
                <a:ea typeface="Calibri" pitchFamily="34" charset="-122"/>
                <a:cs typeface="Calibri" pitchFamily="34" charset="-120"/>
              </a:rPr>
              <a:t>Sai Pavan Tej Bobba</a:t>
            </a:r>
            <a:endParaRPr lang="en-US" sz="1400" dirty="0"/>
          </a:p>
        </p:txBody>
      </p:sp>
      <p:pic>
        <p:nvPicPr>
          <p:cNvPr id="7" name="Image 0" descr="preencoded.png">    </p:cNvPr>
          <p:cNvPicPr>
            <a:picLocks noChangeAspect="1"/>
          </p:cNvPicPr>
          <p:nvPr/>
        </p:nvPicPr>
        <p:blipFill>
          <a:blip r:embed="rId1"/>
          <a:stretch>
            <a:fillRect/>
          </a:stretch>
        </p:blipFill>
        <p:spPr>
          <a:xfrm>
            <a:off x="10058400" y="182880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1672" cy="320040"/>
          </a:xfrm>
          <a:prstGeom prst="rect">
            <a:avLst/>
          </a:prstGeom>
          <a:noFill/>
          <a:ln/>
        </p:spPr>
        <p:txBody>
          <a:bodyPr wrap="square" lIns="0" tIns="0" rIns="0" bIns="0" rtlCol="0" anchor="ctr"/>
          <a:lstStyle/>
          <a:p>
            <a:pPr indent="0" marL="0">
              <a:buNone/>
            </a:pPr>
            <a:r>
              <a:rPr lang="en-US" sz="1400" b="1" spc="300" kern="0" dirty="0">
                <a:solidFill>
                  <a:srgbClr val="D6246E"/>
                </a:solidFill>
                <a:latin typeface="Calibri" pitchFamily="34" charset="0"/>
                <a:ea typeface="Calibri" pitchFamily="34" charset="-122"/>
                <a:cs typeface="Calibri" pitchFamily="34" charset="-120"/>
              </a:rPr>
              <a:t>PROBLEM STATEMENT</a:t>
            </a:r>
            <a:endParaRPr lang="en-US" sz="140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3200" b="1" dirty="0">
                <a:solidFill>
                  <a:srgbClr val="2A1454"/>
                </a:solidFill>
                <a:latin typeface="Cambria" pitchFamily="34" charset="0"/>
                <a:ea typeface="Cambria" pitchFamily="34" charset="-122"/>
                <a:cs typeface="Cambria" pitchFamily="34" charset="-120"/>
              </a:rPr>
              <a:t>One sentence in a note, three coding decisions</a:t>
            </a:r>
            <a:endParaRPr lang="en-US" sz="3200" dirty="0"/>
          </a:p>
        </p:txBody>
      </p:sp>
      <p:sp>
        <p:nvSpPr>
          <p:cNvPr id="4" name="Shape 2"/>
          <p:cNvSpPr/>
          <p:nvPr/>
        </p:nvSpPr>
        <p:spPr>
          <a:xfrm>
            <a:off x="548640" y="1417320"/>
            <a:ext cx="4754880" cy="2286000"/>
          </a:xfrm>
          <a:prstGeom prst="roundRect">
            <a:avLst>
              <a:gd name="adj" fmla="val 4000"/>
            </a:avLst>
          </a:prstGeom>
          <a:solidFill>
            <a:srgbClr val="F7F7F9"/>
          </a:solidFill>
          <a:ln w="12700">
            <a:solidFill>
              <a:srgbClr val="DDDAE6"/>
            </a:solidFill>
            <a:prstDash val="solid"/>
          </a:ln>
        </p:spPr>
      </p:sp>
      <p:sp>
        <p:nvSpPr>
          <p:cNvPr id="5" name="Text 3"/>
          <p:cNvSpPr txBox="1"/>
          <p:nvPr/>
        </p:nvSpPr>
        <p:spPr>
          <a:xfrm>
            <a:off x="822960" y="1600200"/>
            <a:ext cx="4206240" cy="320040"/>
          </a:xfrm>
          <a:prstGeom prst="rect">
            <a:avLst/>
          </a:prstGeom>
          <a:noFill/>
          <a:ln/>
        </p:spPr>
        <p:txBody>
          <a:bodyPr wrap="square" lIns="0" tIns="0" rIns="0" bIns="0" rtlCol="0" anchor="ctr"/>
          <a:lstStyle/>
          <a:p>
            <a:pPr indent="0" marL="0">
              <a:buNone/>
            </a:pPr>
            <a:r>
              <a:rPr lang="en-US" sz="1300" b="1" dirty="0">
                <a:solidFill>
                  <a:srgbClr val="5E5A6B"/>
                </a:solidFill>
                <a:latin typeface="Calibri" pitchFamily="34" charset="0"/>
                <a:ea typeface="Calibri" pitchFamily="34" charset="-122"/>
                <a:cs typeface="Calibri" pitchFamily="34" charset="-120"/>
              </a:rPr>
              <a:t>Clinical note (synthetic)</a:t>
            </a:r>
            <a:endParaRPr lang="en-US" sz="1300" dirty="0"/>
          </a:p>
        </p:txBody>
      </p:sp>
      <p:sp>
        <p:nvSpPr>
          <p:cNvPr id="6" name="Text 4"/>
          <p:cNvSpPr txBox="1"/>
          <p:nvPr/>
        </p:nvSpPr>
        <p:spPr>
          <a:xfrm>
            <a:off x="822960" y="2057400"/>
            <a:ext cx="4206240" cy="1280160"/>
          </a:xfrm>
          <a:prstGeom prst="rect">
            <a:avLst/>
          </a:prstGeom>
          <a:noFill/>
          <a:ln/>
        </p:spPr>
        <p:txBody>
          <a:bodyPr wrap="square" lIns="0" tIns="0" rIns="0" bIns="0" rtlCol="0" anchor="t"/>
          <a:lstStyle/>
          <a:p>
            <a:pPr indent="0" marL="0">
              <a:buNone/>
            </a:pPr>
            <a:r>
              <a:rPr lang="en-US" sz="2400" dirty="0">
                <a:solidFill>
                  <a:srgbClr val="222222"/>
                </a:solidFill>
                <a:highlight>
                  <a:srgbClr val="FFE08A"/>
                </a:highlight>
                <a:latin typeface="Calibri" pitchFamily="34" charset="0"/>
                <a:ea typeface="Calibri" pitchFamily="34" charset="-122"/>
                <a:cs typeface="Calibri" pitchFamily="34" charset="-120"/>
              </a:rPr>
              <a:t>Type 2 diabetes and chronic kidney disease stage 3.</a:t>
            </a:r>
            <a:endParaRPr lang="en-US" sz="2400" dirty="0"/>
          </a:p>
        </p:txBody>
      </p:sp>
      <p:sp>
        <p:nvSpPr>
          <p:cNvPr id="7" name="Shape 5"/>
          <p:cNvSpPr/>
          <p:nvPr/>
        </p:nvSpPr>
        <p:spPr>
          <a:xfrm>
            <a:off x="5349240" y="2560320"/>
            <a:ext cx="685800" cy="-804672"/>
          </a:xfrm>
          <a:prstGeom prst="line">
            <a:avLst/>
          </a:prstGeom>
          <a:noFill/>
          <a:ln w="19050">
            <a:solidFill>
              <a:srgbClr val="B8B3C7"/>
            </a:solidFill>
            <a:prstDash val="solid"/>
            <a:tailEnd type="triangle"/>
          </a:ln>
        </p:spPr>
      </p:sp>
      <p:sp>
        <p:nvSpPr>
          <p:cNvPr id="8" name="Shape 6"/>
          <p:cNvSpPr/>
          <p:nvPr/>
        </p:nvSpPr>
        <p:spPr>
          <a:xfrm>
            <a:off x="6126480" y="1417320"/>
            <a:ext cx="5486400" cy="685800"/>
          </a:xfrm>
          <a:prstGeom prst="roundRect">
            <a:avLst>
              <a:gd name="adj" fmla="val 13333"/>
            </a:avLst>
          </a:prstGeom>
          <a:solidFill>
            <a:srgbClr val="EFEAF8"/>
          </a:solidFill>
          <a:ln w="12700">
            <a:solidFill>
              <a:srgbClr val="EFEAF8"/>
            </a:solidFill>
            <a:prstDash val="solid"/>
          </a:ln>
        </p:spPr>
      </p:sp>
      <p:sp>
        <p:nvSpPr>
          <p:cNvPr id="9" name="Text 7"/>
          <p:cNvSpPr txBox="1"/>
          <p:nvPr/>
        </p:nvSpPr>
        <p:spPr>
          <a:xfrm>
            <a:off x="6309360" y="1417320"/>
            <a:ext cx="1371600" cy="685800"/>
          </a:xfrm>
          <a:prstGeom prst="rect">
            <a:avLst/>
          </a:prstGeom>
          <a:noFill/>
          <a:ln/>
        </p:spPr>
        <p:txBody>
          <a:bodyPr wrap="square" lIns="0" tIns="0" rIns="0" bIns="0" rtlCol="0" anchor="ctr"/>
          <a:lstStyle/>
          <a:p>
            <a:pPr indent="0" marL="0">
              <a:buNone/>
            </a:pPr>
            <a:r>
              <a:rPr lang="en-US" sz="2000" b="1" dirty="0">
                <a:solidFill>
                  <a:srgbClr val="4B2A8C"/>
                </a:solidFill>
                <a:latin typeface="Cambria" pitchFamily="34" charset="0"/>
                <a:ea typeface="Cambria" pitchFamily="34" charset="-122"/>
                <a:cs typeface="Cambria" pitchFamily="34" charset="-120"/>
              </a:rPr>
              <a:t>E11.22</a:t>
            </a:r>
            <a:endParaRPr lang="en-US" sz="2000" dirty="0"/>
          </a:p>
        </p:txBody>
      </p:sp>
      <p:sp>
        <p:nvSpPr>
          <p:cNvPr id="10" name="Text 8"/>
          <p:cNvSpPr txBox="1"/>
          <p:nvPr/>
        </p:nvSpPr>
        <p:spPr>
          <a:xfrm>
            <a:off x="7772400" y="1417320"/>
            <a:ext cx="3749040" cy="685800"/>
          </a:xfrm>
          <a:prstGeom prst="rect">
            <a:avLst/>
          </a:prstGeom>
          <a:noFill/>
          <a:ln/>
        </p:spPr>
        <p:txBody>
          <a:bodyPr wrap="square" lIns="0" tIns="0" rIns="0" bIns="0" rtlCol="0" anchor="ctr"/>
          <a:lstStyle/>
          <a:p>
            <a:pPr indent="0" marL="0">
              <a:buNone/>
            </a:pPr>
            <a:r>
              <a:rPr lang="en-US" sz="1500" b="1" dirty="0">
                <a:solidFill>
                  <a:srgbClr val="222222"/>
                </a:solidFill>
                <a:latin typeface="Calibri" pitchFamily="34" charset="0"/>
                <a:ea typeface="Calibri" pitchFamily="34" charset="-122"/>
                <a:cs typeface="Calibri" pitchFamily="34" charset="-120"/>
              </a:rPr>
              <a:t>Combination code</a:t>
            </a:r>
            <a:endParaRPr lang="en-US" sz="1500" dirty="0"/>
          </a:p>
          <a:p>
            <a:pPr indent="0" marL="0">
              <a:buNone/>
            </a:pPr>
            <a:r>
              <a:rPr lang="en-US" sz="1300" dirty="0">
                <a:solidFill>
                  <a:srgbClr val="5E5A6B"/>
                </a:solidFill>
                <a:latin typeface="Calibri" pitchFamily="34" charset="0"/>
                <a:ea typeface="Calibri" pitchFamily="34" charset="-122"/>
                <a:cs typeface="Calibri" pitchFamily="34" charset="-120"/>
              </a:rPr>
              <a:t>Guidelines presume diabetes caused the CKD</a:t>
            </a:r>
            <a:endParaRPr lang="en-US" sz="1500" dirty="0"/>
          </a:p>
        </p:txBody>
      </p:sp>
      <p:sp>
        <p:nvSpPr>
          <p:cNvPr id="11" name="Shape 9"/>
          <p:cNvSpPr/>
          <p:nvPr/>
        </p:nvSpPr>
        <p:spPr>
          <a:xfrm>
            <a:off x="5349240" y="2560320"/>
            <a:ext cx="685800" cy="-9144"/>
          </a:xfrm>
          <a:prstGeom prst="line">
            <a:avLst/>
          </a:prstGeom>
          <a:noFill/>
          <a:ln w="19050">
            <a:solidFill>
              <a:srgbClr val="B8B3C7"/>
            </a:solidFill>
            <a:prstDash val="solid"/>
            <a:tailEnd type="triangle"/>
          </a:ln>
        </p:spPr>
      </p:sp>
      <p:sp>
        <p:nvSpPr>
          <p:cNvPr id="12" name="Shape 10"/>
          <p:cNvSpPr/>
          <p:nvPr/>
        </p:nvSpPr>
        <p:spPr>
          <a:xfrm>
            <a:off x="6126480" y="2212848"/>
            <a:ext cx="5486400" cy="685800"/>
          </a:xfrm>
          <a:prstGeom prst="roundRect">
            <a:avLst>
              <a:gd name="adj" fmla="val 13333"/>
            </a:avLst>
          </a:prstGeom>
          <a:solidFill>
            <a:srgbClr val="EFEAF8"/>
          </a:solidFill>
          <a:ln w="12700">
            <a:solidFill>
              <a:srgbClr val="EFEAF8"/>
            </a:solidFill>
            <a:prstDash val="solid"/>
          </a:ln>
        </p:spPr>
      </p:sp>
      <p:sp>
        <p:nvSpPr>
          <p:cNvPr id="13" name="Text 11"/>
          <p:cNvSpPr txBox="1"/>
          <p:nvPr/>
        </p:nvSpPr>
        <p:spPr>
          <a:xfrm>
            <a:off x="6309360" y="2212848"/>
            <a:ext cx="1371600" cy="685800"/>
          </a:xfrm>
          <a:prstGeom prst="rect">
            <a:avLst/>
          </a:prstGeom>
          <a:noFill/>
          <a:ln/>
        </p:spPr>
        <p:txBody>
          <a:bodyPr wrap="square" lIns="0" tIns="0" rIns="0" bIns="0" rtlCol="0" anchor="ctr"/>
          <a:lstStyle/>
          <a:p>
            <a:pPr indent="0" marL="0">
              <a:buNone/>
            </a:pPr>
            <a:r>
              <a:rPr lang="en-US" sz="2000" b="1" dirty="0">
                <a:solidFill>
                  <a:srgbClr val="4B2A8C"/>
                </a:solidFill>
                <a:latin typeface="Cambria" pitchFamily="34" charset="0"/>
                <a:ea typeface="Cambria" pitchFamily="34" charset="-122"/>
                <a:cs typeface="Cambria" pitchFamily="34" charset="-120"/>
              </a:rPr>
              <a:t>N18.30</a:t>
            </a:r>
            <a:endParaRPr lang="en-US" sz="2000" dirty="0"/>
          </a:p>
        </p:txBody>
      </p:sp>
      <p:sp>
        <p:nvSpPr>
          <p:cNvPr id="14" name="Text 12"/>
          <p:cNvSpPr txBox="1"/>
          <p:nvPr/>
        </p:nvSpPr>
        <p:spPr>
          <a:xfrm>
            <a:off x="7772400" y="2212848"/>
            <a:ext cx="3749040" cy="685800"/>
          </a:xfrm>
          <a:prstGeom prst="rect">
            <a:avLst/>
          </a:prstGeom>
          <a:noFill/>
          <a:ln/>
        </p:spPr>
        <p:txBody>
          <a:bodyPr wrap="square" lIns="0" tIns="0" rIns="0" bIns="0" rtlCol="0" anchor="ctr"/>
          <a:lstStyle/>
          <a:p>
            <a:pPr indent="0" marL="0">
              <a:buNone/>
            </a:pPr>
            <a:r>
              <a:rPr lang="en-US" sz="1500" b="1" dirty="0">
                <a:solidFill>
                  <a:srgbClr val="222222"/>
                </a:solidFill>
                <a:latin typeface="Calibri" pitchFamily="34" charset="0"/>
                <a:ea typeface="Calibri" pitchFamily="34" charset="-122"/>
                <a:cs typeface="Calibri" pitchFamily="34" charset="-120"/>
              </a:rPr>
              <a:t>Stage code</a:t>
            </a:r>
            <a:endParaRPr lang="en-US" sz="1500" dirty="0"/>
          </a:p>
          <a:p>
            <a:pPr indent="0" marL="0">
              <a:buNone/>
            </a:pPr>
            <a:r>
              <a:rPr lang="en-US" sz="1300" dirty="0">
                <a:solidFill>
                  <a:srgbClr val="5E5A6B"/>
                </a:solidFill>
                <a:latin typeface="Calibri" pitchFamily="34" charset="0"/>
                <a:ea typeface="Calibri" pitchFamily="34" charset="-122"/>
                <a:cs typeface="Calibri" pitchFamily="34" charset="-120"/>
              </a:rPr>
              <a:t>Required alongside E11.22</a:t>
            </a:r>
            <a:endParaRPr lang="en-US" sz="1500" dirty="0"/>
          </a:p>
        </p:txBody>
      </p:sp>
      <p:sp>
        <p:nvSpPr>
          <p:cNvPr id="15" name="Shape 13"/>
          <p:cNvSpPr/>
          <p:nvPr/>
        </p:nvSpPr>
        <p:spPr>
          <a:xfrm>
            <a:off x="5349240" y="2560320"/>
            <a:ext cx="685800" cy="786384"/>
          </a:xfrm>
          <a:prstGeom prst="line">
            <a:avLst/>
          </a:prstGeom>
          <a:noFill/>
          <a:ln w="19050">
            <a:solidFill>
              <a:srgbClr val="B8B3C7"/>
            </a:solidFill>
            <a:prstDash val="solid"/>
            <a:tailEnd type="triangle"/>
          </a:ln>
        </p:spPr>
      </p:sp>
      <p:sp>
        <p:nvSpPr>
          <p:cNvPr id="16" name="Shape 14"/>
          <p:cNvSpPr/>
          <p:nvPr/>
        </p:nvSpPr>
        <p:spPr>
          <a:xfrm>
            <a:off x="6126480" y="3008376"/>
            <a:ext cx="5486400" cy="685800"/>
          </a:xfrm>
          <a:prstGeom prst="roundRect">
            <a:avLst>
              <a:gd name="adj" fmla="val 13333"/>
            </a:avLst>
          </a:prstGeom>
          <a:solidFill>
            <a:srgbClr val="FBE9F0"/>
          </a:solidFill>
          <a:ln w="12700">
            <a:solidFill>
              <a:srgbClr val="FBE9F0"/>
            </a:solidFill>
            <a:prstDash val="solid"/>
          </a:ln>
        </p:spPr>
      </p:sp>
      <p:sp>
        <p:nvSpPr>
          <p:cNvPr id="17" name="Text 15"/>
          <p:cNvSpPr txBox="1"/>
          <p:nvPr/>
        </p:nvSpPr>
        <p:spPr>
          <a:xfrm>
            <a:off x="6309360" y="3008376"/>
            <a:ext cx="1371600" cy="685800"/>
          </a:xfrm>
          <a:prstGeom prst="rect">
            <a:avLst/>
          </a:prstGeom>
          <a:noFill/>
          <a:ln/>
        </p:spPr>
        <p:txBody>
          <a:bodyPr wrap="square" lIns="0" tIns="0" rIns="0" bIns="0" rtlCol="0" anchor="ctr"/>
          <a:lstStyle/>
          <a:p>
            <a:pPr indent="0" marL="0">
              <a:buNone/>
            </a:pPr>
            <a:r>
              <a:rPr lang="en-US" sz="2000" b="1" dirty="0">
                <a:solidFill>
                  <a:srgbClr val="D6246E"/>
                </a:solidFill>
                <a:latin typeface="Cambria" pitchFamily="34" charset="0"/>
                <a:ea typeface="Cambria" pitchFamily="34" charset="-122"/>
                <a:cs typeface="Cambria" pitchFamily="34" charset="-120"/>
              </a:rPr>
              <a:t>3a or 3b?</a:t>
            </a:r>
            <a:endParaRPr lang="en-US" sz="2000" dirty="0"/>
          </a:p>
        </p:txBody>
      </p:sp>
      <p:sp>
        <p:nvSpPr>
          <p:cNvPr id="18" name="Text 16"/>
          <p:cNvSpPr txBox="1"/>
          <p:nvPr/>
        </p:nvSpPr>
        <p:spPr>
          <a:xfrm>
            <a:off x="7772400" y="3008376"/>
            <a:ext cx="3749040" cy="685800"/>
          </a:xfrm>
          <a:prstGeom prst="rect">
            <a:avLst/>
          </a:prstGeom>
          <a:noFill/>
          <a:ln/>
        </p:spPr>
        <p:txBody>
          <a:bodyPr wrap="square" lIns="0" tIns="0" rIns="0" bIns="0" rtlCol="0" anchor="ctr"/>
          <a:lstStyle/>
          <a:p>
            <a:pPr indent="0" marL="0">
              <a:buNone/>
            </a:pPr>
            <a:r>
              <a:rPr lang="en-US" sz="1500" b="1" dirty="0">
                <a:solidFill>
                  <a:srgbClr val="222222"/>
                </a:solidFill>
                <a:latin typeface="Calibri" pitchFamily="34" charset="0"/>
                <a:ea typeface="Calibri" pitchFamily="34" charset="-122"/>
                <a:cs typeface="Calibri" pitchFamily="34" charset="-120"/>
              </a:rPr>
              <a:t>Question for the doctor</a:t>
            </a:r>
            <a:endParaRPr lang="en-US" sz="1500" dirty="0"/>
          </a:p>
          <a:p>
            <a:pPr indent="0" marL="0">
              <a:buNone/>
            </a:pPr>
            <a:r>
              <a:rPr lang="en-US" sz="1300" dirty="0">
                <a:solidFill>
                  <a:srgbClr val="5E5A6B"/>
                </a:solidFill>
                <a:latin typeface="Calibri" pitchFamily="34" charset="0"/>
                <a:ea typeface="Calibri" pitchFamily="34" charset="-122"/>
                <a:cs typeface="Calibri" pitchFamily="34" charset="-120"/>
              </a:rPr>
              <a:t>Stage 3 alone is too vague for the best code</a:t>
            </a:r>
            <a:endParaRPr lang="en-US" sz="1500" dirty="0"/>
          </a:p>
        </p:txBody>
      </p:sp>
      <p:sp>
        <p:nvSpPr>
          <p:cNvPr id="19" name="Text 17"/>
          <p:cNvSpPr txBox="1"/>
          <p:nvPr/>
        </p:nvSpPr>
        <p:spPr>
          <a:xfrm>
            <a:off x="548640" y="4160520"/>
            <a:ext cx="3474720" cy="731520"/>
          </a:xfrm>
          <a:prstGeom prst="rect">
            <a:avLst/>
          </a:prstGeom>
          <a:noFill/>
          <a:ln/>
        </p:spPr>
        <p:txBody>
          <a:bodyPr wrap="square" lIns="0" tIns="0" rIns="0" bIns="0" rtlCol="0" anchor="ctr"/>
          <a:lstStyle/>
          <a:p>
            <a:pPr indent="0" marL="0">
              <a:buNone/>
            </a:pPr>
            <a:r>
              <a:rPr lang="en-US" sz="4000" b="1" dirty="0">
                <a:solidFill>
                  <a:srgbClr val="4B2A8C"/>
                </a:solidFill>
                <a:latin typeface="Cambria" pitchFamily="34" charset="0"/>
                <a:ea typeface="Cambria" pitchFamily="34" charset="-122"/>
                <a:cs typeface="Cambria" pitchFamily="34" charset="-120"/>
              </a:rPr>
              <a:t>$28.83B</a:t>
            </a:r>
            <a:endParaRPr lang="en-US" sz="4000" dirty="0"/>
          </a:p>
        </p:txBody>
      </p:sp>
      <p:sp>
        <p:nvSpPr>
          <p:cNvPr id="20" name="Text 18"/>
          <p:cNvSpPr txBox="1"/>
          <p:nvPr/>
        </p:nvSpPr>
        <p:spPr>
          <a:xfrm>
            <a:off x="548640" y="4892040"/>
            <a:ext cx="3474720" cy="640080"/>
          </a:xfrm>
          <a:prstGeom prst="rect">
            <a:avLst/>
          </a:prstGeom>
          <a:noFill/>
          <a:ln/>
        </p:spPr>
        <p:txBody>
          <a:bodyPr wrap="square" lIns="0" tIns="0" rIns="0" bIns="0" rtlCol="0" anchor="t"/>
          <a:lstStyle/>
          <a:p>
            <a:pPr indent="0" marL="0">
              <a:buNone/>
            </a:pPr>
            <a:r>
              <a:rPr lang="en-US" sz="1500" dirty="0">
                <a:solidFill>
                  <a:srgbClr val="222222"/>
                </a:solidFill>
                <a:latin typeface="Calibri" pitchFamily="34" charset="0"/>
                <a:ea typeface="Calibri" pitchFamily="34" charset="-122"/>
                <a:cs typeface="Calibri" pitchFamily="34" charset="-120"/>
              </a:rPr>
              <a:t>Medicare improper payments, FY 2025</a:t>
            </a:r>
            <a:endParaRPr lang="en-US" sz="1500" dirty="0"/>
          </a:p>
        </p:txBody>
      </p:sp>
      <p:sp>
        <p:nvSpPr>
          <p:cNvPr id="21" name="Text 19"/>
          <p:cNvSpPr txBox="1"/>
          <p:nvPr/>
        </p:nvSpPr>
        <p:spPr>
          <a:xfrm>
            <a:off x="548640" y="5532120"/>
            <a:ext cx="3474720" cy="274320"/>
          </a:xfrm>
          <a:prstGeom prst="rect">
            <a:avLst/>
          </a:prstGeom>
          <a:noFill/>
          <a:ln/>
        </p:spPr>
        <p:txBody>
          <a:bodyPr wrap="square" lIns="0" tIns="0" rIns="0" bIns="0" rtlCol="0" anchor="ctr"/>
          <a:lstStyle/>
          <a:p>
            <a:pPr indent="0" marL="0">
              <a:buNone/>
            </a:pPr>
            <a:r>
              <a:rPr lang="en-US" sz="1100" i="1" dirty="0">
                <a:solidFill>
                  <a:srgbClr val="5E5A6B"/>
                </a:solidFill>
                <a:latin typeface="Calibri" pitchFamily="34" charset="0"/>
                <a:ea typeface="Calibri" pitchFamily="34" charset="-122"/>
                <a:cs typeface="Calibri" pitchFamily="34" charset="-120"/>
              </a:rPr>
              <a:t>ACDIS, 2026</a:t>
            </a:r>
            <a:endParaRPr lang="en-US" sz="1100" dirty="0"/>
          </a:p>
        </p:txBody>
      </p:sp>
      <p:sp>
        <p:nvSpPr>
          <p:cNvPr id="22" name="Text 20"/>
          <p:cNvSpPr txBox="1"/>
          <p:nvPr/>
        </p:nvSpPr>
        <p:spPr>
          <a:xfrm>
            <a:off x="4297680" y="4160520"/>
            <a:ext cx="3474720" cy="731520"/>
          </a:xfrm>
          <a:prstGeom prst="rect">
            <a:avLst/>
          </a:prstGeom>
          <a:noFill/>
          <a:ln/>
        </p:spPr>
        <p:txBody>
          <a:bodyPr wrap="square" lIns="0" tIns="0" rIns="0" bIns="0" rtlCol="0" anchor="ctr"/>
          <a:lstStyle/>
          <a:p>
            <a:pPr indent="0" marL="0">
              <a:buNone/>
            </a:pPr>
            <a:r>
              <a:rPr lang="en-US" sz="4000" b="1" dirty="0">
                <a:solidFill>
                  <a:srgbClr val="4B2A8C"/>
                </a:solidFill>
                <a:latin typeface="Cambria" pitchFamily="34" charset="0"/>
                <a:ea typeface="Cambria" pitchFamily="34" charset="-122"/>
                <a:cs typeface="Cambria" pitchFamily="34" charset="-120"/>
              </a:rPr>
              <a:t>41%</a:t>
            </a:r>
            <a:endParaRPr lang="en-US" sz="4000" dirty="0"/>
          </a:p>
        </p:txBody>
      </p:sp>
      <p:sp>
        <p:nvSpPr>
          <p:cNvPr id="23" name="Text 21"/>
          <p:cNvSpPr txBox="1"/>
          <p:nvPr/>
        </p:nvSpPr>
        <p:spPr>
          <a:xfrm>
            <a:off x="4297680" y="4892040"/>
            <a:ext cx="3474720" cy="640080"/>
          </a:xfrm>
          <a:prstGeom prst="rect">
            <a:avLst/>
          </a:prstGeom>
          <a:noFill/>
          <a:ln/>
        </p:spPr>
        <p:txBody>
          <a:bodyPr wrap="square" lIns="0" tIns="0" rIns="0" bIns="0" rtlCol="0" anchor="t"/>
          <a:lstStyle/>
          <a:p>
            <a:pPr indent="0" marL="0">
              <a:buNone/>
            </a:pPr>
            <a:r>
              <a:rPr lang="en-US" sz="1500" dirty="0">
                <a:solidFill>
                  <a:srgbClr val="222222"/>
                </a:solidFill>
                <a:latin typeface="Calibri" pitchFamily="34" charset="0"/>
                <a:ea typeface="Calibri" pitchFamily="34" charset="-122"/>
                <a:cs typeface="Calibri" pitchFamily="34" charset="-120"/>
              </a:rPr>
              <a:t>of providers see denial rates of 10% or more</a:t>
            </a:r>
            <a:endParaRPr lang="en-US" sz="1500" dirty="0"/>
          </a:p>
        </p:txBody>
      </p:sp>
      <p:sp>
        <p:nvSpPr>
          <p:cNvPr id="24" name="Text 22"/>
          <p:cNvSpPr txBox="1"/>
          <p:nvPr/>
        </p:nvSpPr>
        <p:spPr>
          <a:xfrm>
            <a:off x="4297680" y="5532120"/>
            <a:ext cx="3474720" cy="274320"/>
          </a:xfrm>
          <a:prstGeom prst="rect">
            <a:avLst/>
          </a:prstGeom>
          <a:noFill/>
          <a:ln/>
        </p:spPr>
        <p:txBody>
          <a:bodyPr wrap="square" lIns="0" tIns="0" rIns="0" bIns="0" rtlCol="0" anchor="ctr"/>
          <a:lstStyle/>
          <a:p>
            <a:pPr indent="0" marL="0">
              <a:buNone/>
            </a:pPr>
            <a:r>
              <a:rPr lang="en-US" sz="1100" i="1" dirty="0">
                <a:solidFill>
                  <a:srgbClr val="5E5A6B"/>
                </a:solidFill>
                <a:latin typeface="Calibri" pitchFamily="34" charset="0"/>
                <a:ea typeface="Calibri" pitchFamily="34" charset="-122"/>
                <a:cs typeface="Calibri" pitchFamily="34" charset="-120"/>
              </a:rPr>
              <a:t>Experian Health, 2025</a:t>
            </a:r>
            <a:endParaRPr lang="en-US" sz="1100" dirty="0"/>
          </a:p>
        </p:txBody>
      </p:sp>
      <p:sp>
        <p:nvSpPr>
          <p:cNvPr id="25" name="Text 23"/>
          <p:cNvSpPr txBox="1"/>
          <p:nvPr/>
        </p:nvSpPr>
        <p:spPr>
          <a:xfrm>
            <a:off x="8046720" y="4160520"/>
            <a:ext cx="3474720" cy="731520"/>
          </a:xfrm>
          <a:prstGeom prst="rect">
            <a:avLst/>
          </a:prstGeom>
          <a:noFill/>
          <a:ln/>
        </p:spPr>
        <p:txBody>
          <a:bodyPr wrap="square" lIns="0" tIns="0" rIns="0" bIns="0" rtlCol="0" anchor="ctr"/>
          <a:lstStyle/>
          <a:p>
            <a:pPr indent="0" marL="0">
              <a:buNone/>
            </a:pPr>
            <a:r>
              <a:rPr lang="en-US" sz="4000" b="1" dirty="0">
                <a:solidFill>
                  <a:srgbClr val="D6246E"/>
                </a:solidFill>
                <a:latin typeface="Cambria" pitchFamily="34" charset="0"/>
                <a:ea typeface="Cambria" pitchFamily="34" charset="-122"/>
                <a:cs typeface="Cambria" pitchFamily="34" charset="-120"/>
              </a:rPr>
              <a:t>33.9%</a:t>
            </a:r>
            <a:endParaRPr lang="en-US" sz="4000" dirty="0"/>
          </a:p>
        </p:txBody>
      </p:sp>
      <p:sp>
        <p:nvSpPr>
          <p:cNvPr id="26" name="Text 24"/>
          <p:cNvSpPr txBox="1"/>
          <p:nvPr/>
        </p:nvSpPr>
        <p:spPr>
          <a:xfrm>
            <a:off x="8046720" y="4892040"/>
            <a:ext cx="3474720" cy="640080"/>
          </a:xfrm>
          <a:prstGeom prst="rect">
            <a:avLst/>
          </a:prstGeom>
          <a:noFill/>
          <a:ln/>
        </p:spPr>
        <p:txBody>
          <a:bodyPr wrap="square" lIns="0" tIns="0" rIns="0" bIns="0" rtlCol="0" anchor="t"/>
          <a:lstStyle/>
          <a:p>
            <a:pPr indent="0" marL="0">
              <a:buNone/>
            </a:pPr>
            <a:r>
              <a:rPr lang="en-US" sz="1500" dirty="0">
                <a:solidFill>
                  <a:srgbClr val="222222"/>
                </a:solidFill>
                <a:latin typeface="Calibri" pitchFamily="34" charset="0"/>
                <a:ea typeface="Calibri" pitchFamily="34" charset="-122"/>
                <a:cs typeface="Calibri" pitchFamily="34" charset="-120"/>
              </a:rPr>
              <a:t>best LLM accuracy on ICD-10-CM codes alone</a:t>
            </a:r>
            <a:endParaRPr lang="en-US" sz="1500" dirty="0"/>
          </a:p>
        </p:txBody>
      </p:sp>
      <p:sp>
        <p:nvSpPr>
          <p:cNvPr id="27" name="Text 25"/>
          <p:cNvSpPr txBox="1"/>
          <p:nvPr/>
        </p:nvSpPr>
        <p:spPr>
          <a:xfrm>
            <a:off x="8046720" y="5532120"/>
            <a:ext cx="3474720" cy="274320"/>
          </a:xfrm>
          <a:prstGeom prst="rect">
            <a:avLst/>
          </a:prstGeom>
          <a:noFill/>
          <a:ln/>
        </p:spPr>
        <p:txBody>
          <a:bodyPr wrap="square" lIns="0" tIns="0" rIns="0" bIns="0" rtlCol="0" anchor="ctr"/>
          <a:lstStyle/>
          <a:p>
            <a:pPr indent="0" marL="0">
              <a:buNone/>
            </a:pPr>
            <a:r>
              <a:rPr lang="en-US" sz="1100" i="1" dirty="0">
                <a:solidFill>
                  <a:srgbClr val="5E5A6B"/>
                </a:solidFill>
                <a:latin typeface="Calibri" pitchFamily="34" charset="0"/>
                <a:ea typeface="Calibri" pitchFamily="34" charset="-122"/>
                <a:cs typeface="Calibri" pitchFamily="34" charset="-120"/>
              </a:rPr>
              <a:t>Soroush et al., 2024</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1672" cy="320040"/>
          </a:xfrm>
          <a:prstGeom prst="rect">
            <a:avLst/>
          </a:prstGeom>
          <a:noFill/>
          <a:ln/>
        </p:spPr>
        <p:txBody>
          <a:bodyPr wrap="square" lIns="0" tIns="0" rIns="0" bIns="0" rtlCol="0" anchor="ctr"/>
          <a:lstStyle/>
          <a:p>
            <a:pPr indent="0" marL="0">
              <a:buNone/>
            </a:pPr>
            <a:r>
              <a:rPr lang="en-US" sz="1400" b="1" spc="300" kern="0" dirty="0">
                <a:solidFill>
                  <a:srgbClr val="D6246E"/>
                </a:solidFill>
                <a:latin typeface="Calibri" pitchFamily="34" charset="0"/>
                <a:ea typeface="Calibri" pitchFamily="34" charset="-122"/>
                <a:cs typeface="Calibri" pitchFamily="34" charset="-120"/>
              </a:rPr>
              <a:t>SOLUTION</a:t>
            </a:r>
            <a:endParaRPr lang="en-US" sz="140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3200" b="1" dirty="0">
                <a:solidFill>
                  <a:srgbClr val="2A1454"/>
                </a:solidFill>
                <a:latin typeface="Cambria" pitchFamily="34" charset="0"/>
                <a:ea typeface="Cambria" pitchFamily="34" charset="-122"/>
                <a:cs typeface="Cambria" pitchFamily="34" charset="-120"/>
              </a:rPr>
              <a:t>CodeCare AI: the LLM reads, plain code checks</a:t>
            </a:r>
            <a:endParaRPr lang="en-US" sz="3200" dirty="0"/>
          </a:p>
        </p:txBody>
      </p:sp>
      <p:sp>
        <p:nvSpPr>
          <p:cNvPr id="4" name="Shape 2"/>
          <p:cNvSpPr/>
          <p:nvPr/>
        </p:nvSpPr>
        <p:spPr>
          <a:xfrm>
            <a:off x="548640" y="1463040"/>
            <a:ext cx="1691640" cy="1554480"/>
          </a:xfrm>
          <a:prstGeom prst="roundRect">
            <a:avLst>
              <a:gd name="adj" fmla="val 5882"/>
            </a:avLst>
          </a:prstGeom>
          <a:solidFill>
            <a:srgbClr val="4B2A8C"/>
          </a:solidFill>
          <a:ln w="12700">
            <a:solidFill>
              <a:srgbClr val="4B2A8C"/>
            </a:solidFill>
            <a:prstDash val="solid"/>
          </a:ln>
        </p:spPr>
      </p:sp>
      <p:sp>
        <p:nvSpPr>
          <p:cNvPr id="5" name="Text 3"/>
          <p:cNvSpPr txBox="1"/>
          <p:nvPr/>
        </p:nvSpPr>
        <p:spPr>
          <a:xfrm>
            <a:off x="640080" y="1645920"/>
            <a:ext cx="150876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Clinical note</a:t>
            </a:r>
            <a:endParaRPr lang="en-US" sz="1700" dirty="0"/>
          </a:p>
        </p:txBody>
      </p:sp>
      <p:sp>
        <p:nvSpPr>
          <p:cNvPr id="6" name="Text 4"/>
          <p:cNvSpPr txBox="1"/>
          <p:nvPr/>
        </p:nvSpPr>
        <p:spPr>
          <a:xfrm>
            <a:off x="640080" y="2240280"/>
            <a:ext cx="1508760" cy="64008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Numbered sentences</a:t>
            </a:r>
            <a:endParaRPr lang="en-US" sz="1300" dirty="0"/>
          </a:p>
        </p:txBody>
      </p:sp>
      <p:sp>
        <p:nvSpPr>
          <p:cNvPr id="7" name="Shape 5"/>
          <p:cNvSpPr/>
          <p:nvPr/>
        </p:nvSpPr>
        <p:spPr>
          <a:xfrm>
            <a:off x="2267712" y="2148840"/>
            <a:ext cx="128016" cy="182880"/>
          </a:xfrm>
          <a:prstGeom prst="rtTriangle">
            <a:avLst/>
          </a:prstGeom>
          <a:solidFill>
            <a:srgbClr val="B8B3C7"/>
          </a:solidFill>
          <a:ln w="12700">
            <a:solidFill>
              <a:srgbClr val="B8B3C7"/>
            </a:solidFill>
            <a:prstDash val="solid"/>
          </a:ln>
        </p:spPr>
      </p:sp>
      <p:sp>
        <p:nvSpPr>
          <p:cNvPr id="8" name="Shape 6"/>
          <p:cNvSpPr/>
          <p:nvPr/>
        </p:nvSpPr>
        <p:spPr>
          <a:xfrm>
            <a:off x="2423160" y="1463040"/>
            <a:ext cx="1691640" cy="1554480"/>
          </a:xfrm>
          <a:prstGeom prst="roundRect">
            <a:avLst>
              <a:gd name="adj" fmla="val 5882"/>
            </a:avLst>
          </a:prstGeom>
          <a:solidFill>
            <a:srgbClr val="D6246E"/>
          </a:solidFill>
          <a:ln w="12700">
            <a:solidFill>
              <a:srgbClr val="D6246E"/>
            </a:solidFill>
            <a:prstDash val="solid"/>
          </a:ln>
        </p:spPr>
      </p:sp>
      <p:sp>
        <p:nvSpPr>
          <p:cNvPr id="9" name="Text 7"/>
          <p:cNvSpPr txBox="1"/>
          <p:nvPr/>
        </p:nvSpPr>
        <p:spPr>
          <a:xfrm>
            <a:off x="2514600" y="1645920"/>
            <a:ext cx="150876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Extract facts</a:t>
            </a:r>
            <a:endParaRPr lang="en-US" sz="1700" dirty="0"/>
          </a:p>
        </p:txBody>
      </p:sp>
      <p:sp>
        <p:nvSpPr>
          <p:cNvPr id="10" name="Text 8"/>
          <p:cNvSpPr txBox="1"/>
          <p:nvPr/>
        </p:nvSpPr>
        <p:spPr>
          <a:xfrm>
            <a:off x="2514600" y="2240280"/>
            <a:ext cx="1508760" cy="64008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Conditions + evidence</a:t>
            </a:r>
            <a:endParaRPr lang="en-US" sz="1300" dirty="0"/>
          </a:p>
        </p:txBody>
      </p:sp>
      <p:sp>
        <p:nvSpPr>
          <p:cNvPr id="11" name="Shape 9"/>
          <p:cNvSpPr/>
          <p:nvPr/>
        </p:nvSpPr>
        <p:spPr>
          <a:xfrm>
            <a:off x="4142232" y="2148840"/>
            <a:ext cx="128016" cy="182880"/>
          </a:xfrm>
          <a:prstGeom prst="rtTriangle">
            <a:avLst/>
          </a:prstGeom>
          <a:solidFill>
            <a:srgbClr val="B8B3C7"/>
          </a:solidFill>
          <a:ln w="12700">
            <a:solidFill>
              <a:srgbClr val="B8B3C7"/>
            </a:solidFill>
            <a:prstDash val="solid"/>
          </a:ln>
        </p:spPr>
      </p:sp>
      <p:sp>
        <p:nvSpPr>
          <p:cNvPr id="12" name="Shape 10"/>
          <p:cNvSpPr/>
          <p:nvPr/>
        </p:nvSpPr>
        <p:spPr>
          <a:xfrm>
            <a:off x="4297680" y="1463040"/>
            <a:ext cx="1691640" cy="1554480"/>
          </a:xfrm>
          <a:prstGeom prst="roundRect">
            <a:avLst>
              <a:gd name="adj" fmla="val 5882"/>
            </a:avLst>
          </a:prstGeom>
          <a:solidFill>
            <a:srgbClr val="4B2A8C"/>
          </a:solidFill>
          <a:ln w="12700">
            <a:solidFill>
              <a:srgbClr val="4B2A8C"/>
            </a:solidFill>
            <a:prstDash val="solid"/>
          </a:ln>
        </p:spPr>
      </p:sp>
      <p:sp>
        <p:nvSpPr>
          <p:cNvPr id="13" name="Text 11"/>
          <p:cNvSpPr txBox="1"/>
          <p:nvPr/>
        </p:nvSpPr>
        <p:spPr>
          <a:xfrm>
            <a:off x="4389120" y="1645920"/>
            <a:ext cx="150876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Find candidates</a:t>
            </a:r>
            <a:endParaRPr lang="en-US" sz="1700" dirty="0"/>
          </a:p>
        </p:txBody>
      </p:sp>
      <p:sp>
        <p:nvSpPr>
          <p:cNvPr id="14" name="Text 12"/>
          <p:cNvSpPr txBox="1"/>
          <p:nvPr/>
        </p:nvSpPr>
        <p:spPr>
          <a:xfrm>
            <a:off x="4389120" y="2240280"/>
            <a:ext cx="1508760" cy="64008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98,403 official CMS codes</a:t>
            </a:r>
            <a:endParaRPr lang="en-US" sz="1300" dirty="0"/>
          </a:p>
        </p:txBody>
      </p:sp>
      <p:sp>
        <p:nvSpPr>
          <p:cNvPr id="15" name="Shape 13"/>
          <p:cNvSpPr/>
          <p:nvPr/>
        </p:nvSpPr>
        <p:spPr>
          <a:xfrm>
            <a:off x="6016752" y="2148840"/>
            <a:ext cx="128016" cy="182880"/>
          </a:xfrm>
          <a:prstGeom prst="rtTriangle">
            <a:avLst/>
          </a:prstGeom>
          <a:solidFill>
            <a:srgbClr val="B8B3C7"/>
          </a:solidFill>
          <a:ln w="12700">
            <a:solidFill>
              <a:srgbClr val="B8B3C7"/>
            </a:solidFill>
            <a:prstDash val="solid"/>
          </a:ln>
        </p:spPr>
      </p:sp>
      <p:sp>
        <p:nvSpPr>
          <p:cNvPr id="16" name="Shape 14"/>
          <p:cNvSpPr/>
          <p:nvPr/>
        </p:nvSpPr>
        <p:spPr>
          <a:xfrm>
            <a:off x="6172200" y="1463040"/>
            <a:ext cx="1691640" cy="1554480"/>
          </a:xfrm>
          <a:prstGeom prst="roundRect">
            <a:avLst>
              <a:gd name="adj" fmla="val 5882"/>
            </a:avLst>
          </a:prstGeom>
          <a:solidFill>
            <a:srgbClr val="D6246E"/>
          </a:solidFill>
          <a:ln w="12700">
            <a:solidFill>
              <a:srgbClr val="D6246E"/>
            </a:solidFill>
            <a:prstDash val="solid"/>
          </a:ln>
        </p:spPr>
      </p:sp>
      <p:sp>
        <p:nvSpPr>
          <p:cNvPr id="17" name="Text 15"/>
          <p:cNvSpPr txBox="1"/>
          <p:nvPr/>
        </p:nvSpPr>
        <p:spPr>
          <a:xfrm>
            <a:off x="6263640" y="1645920"/>
            <a:ext cx="150876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Pick codes</a:t>
            </a:r>
            <a:endParaRPr lang="en-US" sz="1700" dirty="0"/>
          </a:p>
        </p:txBody>
      </p:sp>
      <p:sp>
        <p:nvSpPr>
          <p:cNvPr id="18" name="Text 16"/>
          <p:cNvSpPr txBox="1"/>
          <p:nvPr/>
        </p:nvSpPr>
        <p:spPr>
          <a:xfrm>
            <a:off x="6263640" y="2240280"/>
            <a:ext cx="1508760" cy="64008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Only from candidates</a:t>
            </a:r>
            <a:endParaRPr lang="en-US" sz="1300" dirty="0"/>
          </a:p>
        </p:txBody>
      </p:sp>
      <p:sp>
        <p:nvSpPr>
          <p:cNvPr id="19" name="Shape 17"/>
          <p:cNvSpPr/>
          <p:nvPr/>
        </p:nvSpPr>
        <p:spPr>
          <a:xfrm>
            <a:off x="7891272" y="2148840"/>
            <a:ext cx="128016" cy="182880"/>
          </a:xfrm>
          <a:prstGeom prst="rtTriangle">
            <a:avLst/>
          </a:prstGeom>
          <a:solidFill>
            <a:srgbClr val="B8B3C7"/>
          </a:solidFill>
          <a:ln w="12700">
            <a:solidFill>
              <a:srgbClr val="B8B3C7"/>
            </a:solidFill>
            <a:prstDash val="solid"/>
          </a:ln>
        </p:spPr>
      </p:sp>
      <p:sp>
        <p:nvSpPr>
          <p:cNvPr id="20" name="Shape 18"/>
          <p:cNvSpPr/>
          <p:nvPr/>
        </p:nvSpPr>
        <p:spPr>
          <a:xfrm>
            <a:off x="8046720" y="1463040"/>
            <a:ext cx="1691640" cy="1554480"/>
          </a:xfrm>
          <a:prstGeom prst="roundRect">
            <a:avLst>
              <a:gd name="adj" fmla="val 5882"/>
            </a:avLst>
          </a:prstGeom>
          <a:solidFill>
            <a:srgbClr val="4B2A8C"/>
          </a:solidFill>
          <a:ln w="12700">
            <a:solidFill>
              <a:srgbClr val="4B2A8C"/>
            </a:solidFill>
            <a:prstDash val="solid"/>
          </a:ln>
        </p:spPr>
      </p:sp>
      <p:sp>
        <p:nvSpPr>
          <p:cNvPr id="21" name="Text 19"/>
          <p:cNvSpPr txBox="1"/>
          <p:nvPr/>
        </p:nvSpPr>
        <p:spPr>
          <a:xfrm>
            <a:off x="8138160" y="1645920"/>
            <a:ext cx="150876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12 coding rules</a:t>
            </a:r>
            <a:endParaRPr lang="en-US" sz="1700" dirty="0"/>
          </a:p>
        </p:txBody>
      </p:sp>
      <p:sp>
        <p:nvSpPr>
          <p:cNvPr id="22" name="Text 20"/>
          <p:cNvSpPr txBox="1"/>
          <p:nvPr/>
        </p:nvSpPr>
        <p:spPr>
          <a:xfrm>
            <a:off x="8138160" y="2240280"/>
            <a:ext cx="1508760" cy="64008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Guidelines as tested code</a:t>
            </a:r>
            <a:endParaRPr lang="en-US" sz="1300" dirty="0"/>
          </a:p>
        </p:txBody>
      </p:sp>
      <p:sp>
        <p:nvSpPr>
          <p:cNvPr id="23" name="Shape 21"/>
          <p:cNvSpPr/>
          <p:nvPr/>
        </p:nvSpPr>
        <p:spPr>
          <a:xfrm>
            <a:off x="9765792" y="2148840"/>
            <a:ext cx="128016" cy="182880"/>
          </a:xfrm>
          <a:prstGeom prst="rtTriangle">
            <a:avLst/>
          </a:prstGeom>
          <a:solidFill>
            <a:srgbClr val="B8B3C7"/>
          </a:solidFill>
          <a:ln w="12700">
            <a:solidFill>
              <a:srgbClr val="B8B3C7"/>
            </a:solidFill>
            <a:prstDash val="solid"/>
          </a:ln>
        </p:spPr>
      </p:sp>
      <p:sp>
        <p:nvSpPr>
          <p:cNvPr id="24" name="Shape 22"/>
          <p:cNvSpPr/>
          <p:nvPr/>
        </p:nvSpPr>
        <p:spPr>
          <a:xfrm>
            <a:off x="9921240" y="1463040"/>
            <a:ext cx="1691640" cy="1554480"/>
          </a:xfrm>
          <a:prstGeom prst="roundRect">
            <a:avLst>
              <a:gd name="adj" fmla="val 5882"/>
            </a:avLst>
          </a:prstGeom>
          <a:solidFill>
            <a:srgbClr val="4B2A8C"/>
          </a:solidFill>
          <a:ln w="12700">
            <a:solidFill>
              <a:srgbClr val="4B2A8C"/>
            </a:solidFill>
            <a:prstDash val="solid"/>
          </a:ln>
        </p:spPr>
      </p:sp>
      <p:sp>
        <p:nvSpPr>
          <p:cNvPr id="25" name="Text 23"/>
          <p:cNvSpPr txBox="1"/>
          <p:nvPr/>
        </p:nvSpPr>
        <p:spPr>
          <a:xfrm>
            <a:off x="10012680" y="1645920"/>
            <a:ext cx="150876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Coder decides</a:t>
            </a:r>
            <a:endParaRPr lang="en-US" sz="1700" dirty="0"/>
          </a:p>
        </p:txBody>
      </p:sp>
      <p:sp>
        <p:nvSpPr>
          <p:cNvPr id="26" name="Text 24"/>
          <p:cNvSpPr txBox="1"/>
          <p:nvPr/>
        </p:nvSpPr>
        <p:spPr>
          <a:xfrm>
            <a:off x="10012680" y="2240280"/>
            <a:ext cx="1508760" cy="64008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Accept, edit, reject</a:t>
            </a:r>
            <a:endParaRPr lang="en-US" sz="1300" dirty="0"/>
          </a:p>
        </p:txBody>
      </p:sp>
      <p:sp>
        <p:nvSpPr>
          <p:cNvPr id="27" name="Shape 25"/>
          <p:cNvSpPr/>
          <p:nvPr/>
        </p:nvSpPr>
        <p:spPr>
          <a:xfrm>
            <a:off x="548640" y="3246120"/>
            <a:ext cx="256032" cy="256032"/>
          </a:xfrm>
          <a:prstGeom prst="rect">
            <a:avLst/>
          </a:prstGeom>
          <a:solidFill>
            <a:srgbClr val="D6246E"/>
          </a:solidFill>
          <a:ln w="12700">
            <a:solidFill>
              <a:srgbClr val="D6246E"/>
            </a:solidFill>
            <a:prstDash val="solid"/>
          </a:ln>
        </p:spPr>
      </p:sp>
      <p:sp>
        <p:nvSpPr>
          <p:cNvPr id="28" name="Text 26"/>
          <p:cNvSpPr txBox="1"/>
          <p:nvPr/>
        </p:nvSpPr>
        <p:spPr>
          <a:xfrm>
            <a:off x="914400" y="3200400"/>
            <a:ext cx="3657600" cy="347472"/>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LLM step (gpt-oss-120b)</a:t>
            </a:r>
            <a:endParaRPr lang="en-US" sz="1300" dirty="0"/>
          </a:p>
        </p:txBody>
      </p:sp>
      <p:sp>
        <p:nvSpPr>
          <p:cNvPr id="29" name="Shape 27"/>
          <p:cNvSpPr/>
          <p:nvPr/>
        </p:nvSpPr>
        <p:spPr>
          <a:xfrm>
            <a:off x="4206240" y="3246120"/>
            <a:ext cx="256032" cy="256032"/>
          </a:xfrm>
          <a:prstGeom prst="rect">
            <a:avLst/>
          </a:prstGeom>
          <a:solidFill>
            <a:srgbClr val="4B2A8C"/>
          </a:solidFill>
          <a:ln w="12700">
            <a:solidFill>
              <a:srgbClr val="4B2A8C"/>
            </a:solidFill>
            <a:prstDash val="solid"/>
          </a:ln>
        </p:spPr>
      </p:sp>
      <p:sp>
        <p:nvSpPr>
          <p:cNvPr id="30" name="Text 28"/>
          <p:cNvSpPr txBox="1"/>
          <p:nvPr/>
        </p:nvSpPr>
        <p:spPr>
          <a:xfrm>
            <a:off x="4572000" y="3200400"/>
            <a:ext cx="4572000" cy="347472"/>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Deterministic code, same answer every time</a:t>
            </a:r>
            <a:endParaRPr lang="en-US" sz="1300" dirty="0"/>
          </a:p>
        </p:txBody>
      </p:sp>
      <p:sp>
        <p:nvSpPr>
          <p:cNvPr id="31" name="Shape 29"/>
          <p:cNvSpPr/>
          <p:nvPr/>
        </p:nvSpPr>
        <p:spPr>
          <a:xfrm>
            <a:off x="548640" y="3931920"/>
            <a:ext cx="3474720" cy="2103120"/>
          </a:xfrm>
          <a:prstGeom prst="roundRect">
            <a:avLst>
              <a:gd name="adj" fmla="val 5217"/>
            </a:avLst>
          </a:prstGeom>
          <a:solidFill>
            <a:srgbClr val="EFEAF8"/>
          </a:solidFill>
          <a:ln w="12700">
            <a:solidFill>
              <a:srgbClr val="EFEAF8"/>
            </a:solidFill>
            <a:prstDash val="solid"/>
          </a:ln>
        </p:spPr>
      </p:sp>
      <p:sp>
        <p:nvSpPr>
          <p:cNvPr id="32" name="Shape 30"/>
          <p:cNvSpPr/>
          <p:nvPr/>
        </p:nvSpPr>
        <p:spPr>
          <a:xfrm>
            <a:off x="822960" y="4206240"/>
            <a:ext cx="640080" cy="640080"/>
          </a:xfrm>
          <a:prstGeom prst="ellipse">
            <a:avLst/>
          </a:prstGeom>
          <a:solidFill>
            <a:srgbClr val="4B2A8C"/>
          </a:solidFill>
          <a:ln w="12700">
            <a:solidFill>
              <a:srgbClr val="4B2A8C"/>
            </a:solidFill>
            <a:prstDash val="solid"/>
          </a:ln>
        </p:spPr>
      </p:sp>
      <p:pic>
        <p:nvPicPr>
          <p:cNvPr id="33" name="Image 0" descr="preencoded.png">    </p:cNvPr>
          <p:cNvPicPr>
            <a:picLocks noChangeAspect="1"/>
          </p:cNvPicPr>
          <p:nvPr/>
        </p:nvPicPr>
        <p:blipFill>
          <a:blip r:embed="rId1"/>
          <a:stretch>
            <a:fillRect/>
          </a:stretch>
        </p:blipFill>
        <p:spPr>
          <a:xfrm>
            <a:off x="963778" y="4347058"/>
            <a:ext cx="358445" cy="358445"/>
          </a:xfrm>
          <a:prstGeom prst="rect">
            <a:avLst/>
          </a:prstGeom>
        </p:spPr>
      </p:pic>
      <p:sp>
        <p:nvSpPr>
          <p:cNvPr id="34" name="Text 31"/>
          <p:cNvSpPr txBox="1"/>
          <p:nvPr/>
        </p:nvSpPr>
        <p:spPr>
          <a:xfrm>
            <a:off x="1600200" y="4206240"/>
            <a:ext cx="2286000" cy="640080"/>
          </a:xfrm>
          <a:prstGeom prst="rect">
            <a:avLst/>
          </a:prstGeom>
          <a:noFill/>
          <a:ln/>
        </p:spPr>
        <p:txBody>
          <a:bodyPr wrap="square" lIns="0" tIns="0" rIns="0" bIns="0" rtlCol="0" anchor="ctr"/>
          <a:lstStyle/>
          <a:p>
            <a:pPr indent="0" marL="0">
              <a:buNone/>
            </a:pPr>
            <a:r>
              <a:rPr lang="en-US" sz="1800" b="1" dirty="0">
                <a:solidFill>
                  <a:srgbClr val="2A1454"/>
                </a:solidFill>
                <a:latin typeface="Calibri" pitchFamily="34" charset="0"/>
                <a:ea typeface="Calibri" pitchFamily="34" charset="-122"/>
                <a:cs typeface="Calibri" pitchFamily="34" charset="-120"/>
              </a:rPr>
              <a:t>Only real CMS codes</a:t>
            </a:r>
            <a:endParaRPr lang="en-US" sz="1800" dirty="0"/>
          </a:p>
        </p:txBody>
      </p:sp>
      <p:sp>
        <p:nvSpPr>
          <p:cNvPr id="35" name="Text 32"/>
          <p:cNvSpPr txBox="1"/>
          <p:nvPr/>
        </p:nvSpPr>
        <p:spPr>
          <a:xfrm>
            <a:off x="822960" y="4983480"/>
            <a:ext cx="2926080" cy="914400"/>
          </a:xfrm>
          <a:prstGeom prst="rect">
            <a:avLst/>
          </a:prstGeom>
          <a:noFill/>
          <a:ln/>
        </p:spPr>
        <p:txBody>
          <a:bodyPr wrap="square" lIns="0" tIns="0" rIns="0" bIns="0" rtlCol="0" anchor="t"/>
          <a:lstStyle/>
          <a:p>
            <a:pPr indent="0" marL="0">
              <a:buNone/>
            </a:pPr>
            <a:r>
              <a:rPr lang="en-US" sz="1400" dirty="0">
                <a:solidFill>
                  <a:srgbClr val="222222"/>
                </a:solidFill>
                <a:latin typeface="Calibri" pitchFamily="34" charset="0"/>
                <a:ea typeface="Calibri" pitchFamily="34" charset="-122"/>
                <a:cs typeface="Calibri" pitchFamily="34" charset="-120"/>
              </a:rPr>
              <a:t>The LLM picks from retrieved codes. Rule R1 rejects anything not billable on the visit date.</a:t>
            </a:r>
            <a:endParaRPr lang="en-US" sz="1400" dirty="0"/>
          </a:p>
        </p:txBody>
      </p:sp>
      <p:sp>
        <p:nvSpPr>
          <p:cNvPr id="36" name="Shape 33"/>
          <p:cNvSpPr/>
          <p:nvPr/>
        </p:nvSpPr>
        <p:spPr>
          <a:xfrm>
            <a:off x="4297680" y="3931920"/>
            <a:ext cx="3474720" cy="2103120"/>
          </a:xfrm>
          <a:prstGeom prst="roundRect">
            <a:avLst>
              <a:gd name="adj" fmla="val 5217"/>
            </a:avLst>
          </a:prstGeom>
          <a:solidFill>
            <a:srgbClr val="EFEAF8"/>
          </a:solidFill>
          <a:ln w="12700">
            <a:solidFill>
              <a:srgbClr val="EFEAF8"/>
            </a:solidFill>
            <a:prstDash val="solid"/>
          </a:ln>
        </p:spPr>
      </p:sp>
      <p:sp>
        <p:nvSpPr>
          <p:cNvPr id="37" name="Shape 34"/>
          <p:cNvSpPr/>
          <p:nvPr/>
        </p:nvSpPr>
        <p:spPr>
          <a:xfrm>
            <a:off x="4572000" y="4206240"/>
            <a:ext cx="640080" cy="640080"/>
          </a:xfrm>
          <a:prstGeom prst="ellipse">
            <a:avLst/>
          </a:prstGeom>
          <a:solidFill>
            <a:srgbClr val="4B2A8C"/>
          </a:solidFill>
          <a:ln w="12700">
            <a:solidFill>
              <a:srgbClr val="4B2A8C"/>
            </a:solidFill>
            <a:prstDash val="solid"/>
          </a:ln>
        </p:spPr>
      </p:sp>
      <p:pic>
        <p:nvPicPr>
          <p:cNvPr id="38" name="Image 1" descr="preencoded.png">    </p:cNvPr>
          <p:cNvPicPr>
            <a:picLocks noChangeAspect="1"/>
          </p:cNvPicPr>
          <p:nvPr/>
        </p:nvPicPr>
        <p:blipFill>
          <a:blip r:embed="rId2"/>
          <a:stretch>
            <a:fillRect/>
          </a:stretch>
        </p:blipFill>
        <p:spPr>
          <a:xfrm>
            <a:off x="4712818" y="4347058"/>
            <a:ext cx="358445" cy="358445"/>
          </a:xfrm>
          <a:prstGeom prst="rect">
            <a:avLst/>
          </a:prstGeom>
        </p:spPr>
      </p:pic>
      <p:sp>
        <p:nvSpPr>
          <p:cNvPr id="39" name="Text 35"/>
          <p:cNvSpPr txBox="1"/>
          <p:nvPr/>
        </p:nvSpPr>
        <p:spPr>
          <a:xfrm>
            <a:off x="5349240" y="4206240"/>
            <a:ext cx="2286000" cy="640080"/>
          </a:xfrm>
          <a:prstGeom prst="rect">
            <a:avLst/>
          </a:prstGeom>
          <a:noFill/>
          <a:ln/>
        </p:spPr>
        <p:txBody>
          <a:bodyPr wrap="square" lIns="0" tIns="0" rIns="0" bIns="0" rtlCol="0" anchor="ctr"/>
          <a:lstStyle/>
          <a:p>
            <a:pPr indent="0" marL="0">
              <a:buNone/>
            </a:pPr>
            <a:r>
              <a:rPr lang="en-US" sz="1800" b="1" dirty="0">
                <a:solidFill>
                  <a:srgbClr val="2A1454"/>
                </a:solidFill>
                <a:latin typeface="Calibri" pitchFamily="34" charset="0"/>
                <a:ea typeface="Calibri" pitchFamily="34" charset="-122"/>
                <a:cs typeface="Calibri" pitchFamily="34" charset="-120"/>
              </a:rPr>
              <a:t>Evidence for every code</a:t>
            </a:r>
            <a:endParaRPr lang="en-US" sz="1800" dirty="0"/>
          </a:p>
        </p:txBody>
      </p:sp>
      <p:sp>
        <p:nvSpPr>
          <p:cNvPr id="40" name="Text 36"/>
          <p:cNvSpPr txBox="1"/>
          <p:nvPr/>
        </p:nvSpPr>
        <p:spPr>
          <a:xfrm>
            <a:off x="4572000" y="4983480"/>
            <a:ext cx="2926080" cy="914400"/>
          </a:xfrm>
          <a:prstGeom prst="rect">
            <a:avLst/>
          </a:prstGeom>
          <a:noFill/>
          <a:ln/>
        </p:spPr>
        <p:txBody>
          <a:bodyPr wrap="square" lIns="0" tIns="0" rIns="0" bIns="0" rtlCol="0" anchor="t"/>
          <a:lstStyle/>
          <a:p>
            <a:pPr indent="0" marL="0">
              <a:buNone/>
            </a:pPr>
            <a:r>
              <a:rPr lang="en-US" sz="1400" dirty="0">
                <a:solidFill>
                  <a:srgbClr val="222222"/>
                </a:solidFill>
                <a:latin typeface="Calibri" pitchFamily="34" charset="0"/>
                <a:ea typeface="Calibri" pitchFamily="34" charset="-122"/>
                <a:cs typeface="Calibri" pitchFamily="34" charset="-120"/>
              </a:rPr>
              <a:t>Each code points to the exact sentence that supports it.</a:t>
            </a:r>
            <a:endParaRPr lang="en-US" sz="1400" dirty="0"/>
          </a:p>
        </p:txBody>
      </p:sp>
      <p:sp>
        <p:nvSpPr>
          <p:cNvPr id="41" name="Shape 37"/>
          <p:cNvSpPr/>
          <p:nvPr/>
        </p:nvSpPr>
        <p:spPr>
          <a:xfrm>
            <a:off x="8046720" y="3931920"/>
            <a:ext cx="3474720" cy="2103120"/>
          </a:xfrm>
          <a:prstGeom prst="roundRect">
            <a:avLst>
              <a:gd name="adj" fmla="val 5217"/>
            </a:avLst>
          </a:prstGeom>
          <a:solidFill>
            <a:srgbClr val="EFEAF8"/>
          </a:solidFill>
          <a:ln w="12700">
            <a:solidFill>
              <a:srgbClr val="EFEAF8"/>
            </a:solidFill>
            <a:prstDash val="solid"/>
          </a:ln>
        </p:spPr>
      </p:sp>
      <p:sp>
        <p:nvSpPr>
          <p:cNvPr id="42" name="Shape 38"/>
          <p:cNvSpPr/>
          <p:nvPr/>
        </p:nvSpPr>
        <p:spPr>
          <a:xfrm>
            <a:off x="8321040" y="4206240"/>
            <a:ext cx="640080" cy="640080"/>
          </a:xfrm>
          <a:prstGeom prst="ellipse">
            <a:avLst/>
          </a:prstGeom>
          <a:solidFill>
            <a:srgbClr val="4B2A8C"/>
          </a:solidFill>
          <a:ln w="12700">
            <a:solidFill>
              <a:srgbClr val="4B2A8C"/>
            </a:solidFill>
            <a:prstDash val="solid"/>
          </a:ln>
        </p:spPr>
      </p:sp>
      <p:pic>
        <p:nvPicPr>
          <p:cNvPr id="43" name="Image 2" descr="preencoded.png">    </p:cNvPr>
          <p:cNvPicPr>
            <a:picLocks noChangeAspect="1"/>
          </p:cNvPicPr>
          <p:nvPr/>
        </p:nvPicPr>
        <p:blipFill>
          <a:blip r:embed="rId3"/>
          <a:stretch>
            <a:fillRect/>
          </a:stretch>
        </p:blipFill>
        <p:spPr>
          <a:xfrm>
            <a:off x="8461858" y="4347058"/>
            <a:ext cx="358445" cy="358445"/>
          </a:xfrm>
          <a:prstGeom prst="rect">
            <a:avLst/>
          </a:prstGeom>
        </p:spPr>
      </p:pic>
      <p:sp>
        <p:nvSpPr>
          <p:cNvPr id="44" name="Text 39"/>
          <p:cNvSpPr txBox="1"/>
          <p:nvPr/>
        </p:nvSpPr>
        <p:spPr>
          <a:xfrm>
            <a:off x="9098280" y="4206240"/>
            <a:ext cx="2286000" cy="640080"/>
          </a:xfrm>
          <a:prstGeom prst="rect">
            <a:avLst/>
          </a:prstGeom>
          <a:noFill/>
          <a:ln/>
        </p:spPr>
        <p:txBody>
          <a:bodyPr wrap="square" lIns="0" tIns="0" rIns="0" bIns="0" rtlCol="0" anchor="ctr"/>
          <a:lstStyle/>
          <a:p>
            <a:pPr indent="0" marL="0">
              <a:buNone/>
            </a:pPr>
            <a:r>
              <a:rPr lang="en-US" sz="1800" b="1" dirty="0">
                <a:solidFill>
                  <a:srgbClr val="2A1454"/>
                </a:solidFill>
                <a:latin typeface="Calibri" pitchFamily="34" charset="0"/>
                <a:ea typeface="Calibri" pitchFamily="34" charset="-122"/>
                <a:cs typeface="Calibri" pitchFamily="34" charset="-120"/>
              </a:rPr>
              <a:t>A human coder decides</a:t>
            </a:r>
            <a:endParaRPr lang="en-US" sz="1800" dirty="0"/>
          </a:p>
        </p:txBody>
      </p:sp>
      <p:sp>
        <p:nvSpPr>
          <p:cNvPr id="45" name="Text 40"/>
          <p:cNvSpPr txBox="1"/>
          <p:nvPr/>
        </p:nvSpPr>
        <p:spPr>
          <a:xfrm>
            <a:off x="8321040" y="4983480"/>
            <a:ext cx="2926080" cy="914400"/>
          </a:xfrm>
          <a:prstGeom prst="rect">
            <a:avLst/>
          </a:prstGeom>
          <a:noFill/>
          <a:ln/>
        </p:spPr>
        <p:txBody>
          <a:bodyPr wrap="square" lIns="0" tIns="0" rIns="0" bIns="0" rtlCol="0" anchor="t"/>
          <a:lstStyle/>
          <a:p>
            <a:pPr indent="0" marL="0">
              <a:buNone/>
            </a:pPr>
            <a:r>
              <a:rPr lang="en-US" sz="1400" dirty="0">
                <a:solidFill>
                  <a:srgbClr val="222222"/>
                </a:solidFill>
                <a:latin typeface="Calibri" pitchFamily="34" charset="0"/>
                <a:ea typeface="Calibri" pitchFamily="34" charset="-122"/>
                <a:cs typeface="Calibri" pitchFamily="34" charset="-120"/>
              </a:rPr>
              <a:t>The coder accepts, edits, or rejects. Every decision is saved.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4B2A8C"/>
        </a:solidFill>
      </p:bgPr>
    </p:bg>
    <p:spTree>
      <p:nvGrpSpPr>
        <p:cNvPr id="1" name=""/>
        <p:cNvGrpSpPr/>
        <p:nvPr/>
      </p:nvGrpSpPr>
      <p:grpSpPr>
        <a:xfrm>
          <a:off x="0" y="0"/>
          <a:ext cx="0" cy="0"/>
          <a:chOff x="0" y="0"/>
          <a:chExt cx="0" cy="0"/>
        </a:xfrm>
      </p:grpSpPr>
      <p:sp>
        <p:nvSpPr>
          <p:cNvPr id="2" name="Text 0"/>
          <p:cNvSpPr txBox="1"/>
          <p:nvPr/>
        </p:nvSpPr>
        <p:spPr>
          <a:xfrm>
            <a:off x="731520" y="1463040"/>
            <a:ext cx="10058400" cy="457200"/>
          </a:xfrm>
          <a:prstGeom prst="rect">
            <a:avLst/>
          </a:prstGeom>
          <a:noFill/>
          <a:ln/>
        </p:spPr>
        <p:txBody>
          <a:bodyPr wrap="square" lIns="0" tIns="0" rIns="0" bIns="0" rtlCol="0" anchor="ctr"/>
          <a:lstStyle/>
          <a:p>
            <a:pPr indent="0" marL="0">
              <a:buNone/>
            </a:pPr>
            <a:r>
              <a:rPr lang="en-US" sz="1800" b="1" spc="400" kern="0" dirty="0">
                <a:solidFill>
                  <a:srgbClr val="E3D9FA"/>
                </a:solidFill>
                <a:latin typeface="Calibri" pitchFamily="34" charset="0"/>
                <a:ea typeface="Calibri" pitchFamily="34" charset="-122"/>
                <a:cs typeface="Calibri" pitchFamily="34" charset="-120"/>
              </a:rPr>
              <a:t>LIVE DEMO</a:t>
            </a:r>
            <a:endParaRPr lang="en-US" sz="1800" dirty="0"/>
          </a:p>
        </p:txBody>
      </p:sp>
      <p:sp>
        <p:nvSpPr>
          <p:cNvPr id="3" name="Text 1"/>
          <p:cNvSpPr txBox="1"/>
          <p:nvPr/>
        </p:nvSpPr>
        <p:spPr>
          <a:xfrm>
            <a:off x="731520" y="1920240"/>
            <a:ext cx="10058400" cy="9144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From note to codes in seconds</a:t>
            </a:r>
            <a:endParaRPr lang="en-US" sz="4200" dirty="0"/>
          </a:p>
        </p:txBody>
      </p:sp>
      <p:sp>
        <p:nvSpPr>
          <p:cNvPr id="4" name="Shape 2"/>
          <p:cNvSpPr/>
          <p:nvPr/>
        </p:nvSpPr>
        <p:spPr>
          <a:xfrm>
            <a:off x="731520" y="3291840"/>
            <a:ext cx="502920" cy="502920"/>
          </a:xfrm>
          <a:prstGeom prst="ellipse">
            <a:avLst/>
          </a:prstGeom>
          <a:solidFill>
            <a:srgbClr val="D6246E"/>
          </a:solidFill>
          <a:ln w="12700">
            <a:solidFill>
              <a:srgbClr val="D6246E"/>
            </a:solidFill>
            <a:prstDash val="solid"/>
          </a:ln>
        </p:spPr>
      </p:sp>
      <p:pic>
        <p:nvPicPr>
          <p:cNvPr id="5" name="Image 0" descr="preencoded.png">    </p:cNvPr>
          <p:cNvPicPr>
            <a:picLocks noChangeAspect="1"/>
          </p:cNvPicPr>
          <p:nvPr/>
        </p:nvPicPr>
        <p:blipFill>
          <a:blip r:embed="rId1"/>
          <a:stretch>
            <a:fillRect/>
          </a:stretch>
        </p:blipFill>
        <p:spPr>
          <a:xfrm>
            <a:off x="842162" y="3402482"/>
            <a:ext cx="281635" cy="281635"/>
          </a:xfrm>
          <a:prstGeom prst="rect">
            <a:avLst/>
          </a:prstGeom>
        </p:spPr>
      </p:pic>
      <p:sp>
        <p:nvSpPr>
          <p:cNvPr id="6" name="Text 3"/>
          <p:cNvSpPr txBox="1"/>
          <p:nvPr/>
        </p:nvSpPr>
        <p:spPr>
          <a:xfrm>
            <a:off x="1463040" y="3291840"/>
            <a:ext cx="9144000" cy="50292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Evidence: click a code, see its sentence</a:t>
            </a:r>
            <a:endParaRPr lang="en-US" sz="2000" dirty="0"/>
          </a:p>
        </p:txBody>
      </p:sp>
      <p:sp>
        <p:nvSpPr>
          <p:cNvPr id="7" name="Shape 4"/>
          <p:cNvSpPr/>
          <p:nvPr/>
        </p:nvSpPr>
        <p:spPr>
          <a:xfrm>
            <a:off x="731520" y="4023360"/>
            <a:ext cx="502920" cy="502920"/>
          </a:xfrm>
          <a:prstGeom prst="ellipse">
            <a:avLst/>
          </a:prstGeom>
          <a:solidFill>
            <a:srgbClr val="D6246E"/>
          </a:solidFill>
          <a:ln w="12700">
            <a:solidFill>
              <a:srgbClr val="D6246E"/>
            </a:solidFill>
            <a:prstDash val="solid"/>
          </a:ln>
        </p:spPr>
      </p:sp>
      <p:pic>
        <p:nvPicPr>
          <p:cNvPr id="8" name="Image 1" descr="preencoded.png">    </p:cNvPr>
          <p:cNvPicPr>
            <a:picLocks noChangeAspect="1"/>
          </p:cNvPicPr>
          <p:nvPr/>
        </p:nvPicPr>
        <p:blipFill>
          <a:blip r:embed="rId2"/>
          <a:stretch>
            <a:fillRect/>
          </a:stretch>
        </p:blipFill>
        <p:spPr>
          <a:xfrm>
            <a:off x="842162" y="4134002"/>
            <a:ext cx="281635" cy="281635"/>
          </a:xfrm>
          <a:prstGeom prst="rect">
            <a:avLst/>
          </a:prstGeom>
        </p:spPr>
      </p:pic>
      <p:sp>
        <p:nvSpPr>
          <p:cNvPr id="9" name="Text 5"/>
          <p:cNvSpPr txBox="1"/>
          <p:nvPr/>
        </p:nvSpPr>
        <p:spPr>
          <a:xfrm>
            <a:off x="1463040" y="4023360"/>
            <a:ext cx="9144000" cy="50292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Rules: the combination code and its stage</a:t>
            </a:r>
            <a:endParaRPr lang="en-US" sz="2000" dirty="0"/>
          </a:p>
        </p:txBody>
      </p:sp>
      <p:sp>
        <p:nvSpPr>
          <p:cNvPr id="10" name="Shape 6"/>
          <p:cNvSpPr/>
          <p:nvPr/>
        </p:nvSpPr>
        <p:spPr>
          <a:xfrm>
            <a:off x="731520" y="4754880"/>
            <a:ext cx="502920" cy="502920"/>
          </a:xfrm>
          <a:prstGeom prst="ellipse">
            <a:avLst/>
          </a:prstGeom>
          <a:solidFill>
            <a:srgbClr val="D6246E"/>
          </a:solidFill>
          <a:ln w="12700">
            <a:solidFill>
              <a:srgbClr val="D6246E"/>
            </a:solidFill>
            <a:prstDash val="solid"/>
          </a:ln>
        </p:spPr>
      </p:sp>
      <p:pic>
        <p:nvPicPr>
          <p:cNvPr id="11" name="Image 2" descr="preencoded.png">    </p:cNvPr>
          <p:cNvPicPr>
            <a:picLocks noChangeAspect="1"/>
          </p:cNvPicPr>
          <p:nvPr/>
        </p:nvPicPr>
        <p:blipFill>
          <a:blip r:embed="rId3"/>
          <a:stretch>
            <a:fillRect/>
          </a:stretch>
        </p:blipFill>
        <p:spPr>
          <a:xfrm>
            <a:off x="842162" y="4865522"/>
            <a:ext cx="281635" cy="281635"/>
          </a:xfrm>
          <a:prstGeom prst="rect">
            <a:avLst/>
          </a:prstGeom>
        </p:spPr>
      </p:pic>
      <p:sp>
        <p:nvSpPr>
          <p:cNvPr id="12" name="Text 7"/>
          <p:cNvSpPr txBox="1"/>
          <p:nvPr/>
        </p:nvSpPr>
        <p:spPr>
          <a:xfrm>
            <a:off x="1463040" y="4754880"/>
            <a:ext cx="9144000" cy="50292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Gap: a neutral question for the doctor</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1672" cy="320040"/>
          </a:xfrm>
          <a:prstGeom prst="rect">
            <a:avLst/>
          </a:prstGeom>
          <a:noFill/>
          <a:ln/>
        </p:spPr>
        <p:txBody>
          <a:bodyPr wrap="square" lIns="0" tIns="0" rIns="0" bIns="0" rtlCol="0" anchor="ctr"/>
          <a:lstStyle/>
          <a:p>
            <a:pPr indent="0" marL="0">
              <a:buNone/>
            </a:pPr>
            <a:r>
              <a:rPr lang="en-US" sz="1400" b="1" spc="300" kern="0" dirty="0">
                <a:solidFill>
                  <a:srgbClr val="D6246E"/>
                </a:solidFill>
                <a:latin typeface="Calibri" pitchFamily="34" charset="0"/>
                <a:ea typeface="Calibri" pitchFamily="34" charset="-122"/>
                <a:cs typeface="Calibri" pitchFamily="34" charset="-120"/>
              </a:rPr>
              <a:t>RESULTS</a:t>
            </a:r>
            <a:endParaRPr lang="en-US" sz="140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3200" b="1" dirty="0">
                <a:solidFill>
                  <a:srgbClr val="2A1454"/>
                </a:solidFill>
                <a:latin typeface="Cambria" pitchFamily="34" charset="0"/>
                <a:ea typeface="Cambria" pitchFamily="34" charset="-122"/>
                <a:cs typeface="Cambria" pitchFamily="34" charset="-120"/>
              </a:rPr>
              <a:t>Same model, with and without the pipeline</a:t>
            </a:r>
            <a:endParaRPr lang="en-US" sz="3200" dirty="0"/>
          </a:p>
        </p:txBody>
      </p:sp>
      <p:graphicFrame>
        <p:nvGraphicFramePr>
          <p:cNvPr id="4" name="Chart 0" descr=""/>
          <p:cNvGraphicFramePr/>
          <p:nvPr/>
        </p:nvGraphicFramePr>
        <p:xfrm>
          <a:off x="548640" y="1371600"/>
          <a:ext cx="6035040" cy="43891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040880" y="1463040"/>
            <a:ext cx="4572000" cy="731520"/>
          </a:xfrm>
          <a:prstGeom prst="rect">
            <a:avLst/>
          </a:prstGeom>
          <a:noFill/>
          <a:ln/>
        </p:spPr>
        <p:txBody>
          <a:bodyPr wrap="square" lIns="0" tIns="0" rIns="0" bIns="0" rtlCol="0" anchor="ctr"/>
          <a:lstStyle/>
          <a:p>
            <a:pPr indent="0" marL="0">
              <a:buNone/>
            </a:pPr>
            <a:r>
              <a:rPr lang="en-US" sz="3800" b="1" dirty="0">
                <a:solidFill>
                  <a:srgbClr val="4B2A8C"/>
                </a:solidFill>
                <a:latin typeface="Cambria" pitchFamily="34" charset="0"/>
                <a:ea typeface="Cambria" pitchFamily="34" charset="-122"/>
                <a:cs typeface="Cambria" pitchFamily="34" charset="-120"/>
              </a:rPr>
              <a:t>12% → 0%</a:t>
            </a:r>
            <a:endParaRPr lang="en-US" sz="3800" dirty="0"/>
          </a:p>
        </p:txBody>
      </p:sp>
      <p:sp>
        <p:nvSpPr>
          <p:cNvPr id="6" name="Text 3"/>
          <p:cNvSpPr txBox="1"/>
          <p:nvPr/>
        </p:nvSpPr>
        <p:spPr>
          <a:xfrm>
            <a:off x="7040880" y="2194560"/>
            <a:ext cx="4572000" cy="457200"/>
          </a:xfrm>
          <a:prstGeom prst="rect">
            <a:avLst/>
          </a:prstGeom>
          <a:noFill/>
          <a:ln/>
        </p:spPr>
        <p:txBody>
          <a:bodyPr wrap="square" lIns="0" tIns="0" rIns="0" bIns="0" rtlCol="0" anchor="ctr"/>
          <a:lstStyle/>
          <a:p>
            <a:pPr indent="0" marL="0">
              <a:buNone/>
            </a:pPr>
            <a:r>
              <a:rPr lang="en-US" sz="1600" dirty="0">
                <a:solidFill>
                  <a:srgbClr val="222222"/>
                </a:solidFill>
                <a:latin typeface="Calibri" pitchFamily="34" charset="0"/>
                <a:ea typeface="Calibri" pitchFamily="34" charset="-122"/>
                <a:cs typeface="Calibri" pitchFamily="34" charset="-120"/>
              </a:rPr>
              <a:t>invalid codes (non-existent or non-billable)</a:t>
            </a:r>
            <a:endParaRPr lang="en-US" sz="1600" dirty="0"/>
          </a:p>
        </p:txBody>
      </p:sp>
      <p:sp>
        <p:nvSpPr>
          <p:cNvPr id="7" name="Text 4"/>
          <p:cNvSpPr txBox="1"/>
          <p:nvPr/>
        </p:nvSpPr>
        <p:spPr>
          <a:xfrm>
            <a:off x="7040880" y="2926080"/>
            <a:ext cx="4572000" cy="731520"/>
          </a:xfrm>
          <a:prstGeom prst="rect">
            <a:avLst/>
          </a:prstGeom>
          <a:noFill/>
          <a:ln/>
        </p:spPr>
        <p:txBody>
          <a:bodyPr wrap="square" lIns="0" tIns="0" rIns="0" bIns="0" rtlCol="0" anchor="ctr"/>
          <a:lstStyle/>
          <a:p>
            <a:pPr indent="0" marL="0">
              <a:buNone/>
            </a:pPr>
            <a:r>
              <a:rPr lang="en-US" sz="3800" b="1" dirty="0">
                <a:solidFill>
                  <a:srgbClr val="D6246E"/>
                </a:solidFill>
                <a:latin typeface="Cambria" pitchFamily="34" charset="0"/>
                <a:ea typeface="Cambria" pitchFamily="34" charset="-122"/>
                <a:cs typeface="Cambria" pitchFamily="34" charset="-120"/>
              </a:rPr>
              <a:t>0% → 100%</a:t>
            </a:r>
            <a:endParaRPr lang="en-US" sz="3800" dirty="0"/>
          </a:p>
        </p:txBody>
      </p:sp>
      <p:sp>
        <p:nvSpPr>
          <p:cNvPr id="8" name="Text 5"/>
          <p:cNvSpPr txBox="1"/>
          <p:nvPr/>
        </p:nvSpPr>
        <p:spPr>
          <a:xfrm>
            <a:off x="7040880" y="3657600"/>
            <a:ext cx="4572000" cy="457200"/>
          </a:xfrm>
          <a:prstGeom prst="rect">
            <a:avLst/>
          </a:prstGeom>
          <a:noFill/>
          <a:ln/>
        </p:spPr>
        <p:txBody>
          <a:bodyPr wrap="square" lIns="0" tIns="0" rIns="0" bIns="0" rtlCol="0" anchor="ctr"/>
          <a:lstStyle/>
          <a:p>
            <a:pPr indent="0" marL="0">
              <a:buNone/>
            </a:pPr>
            <a:r>
              <a:rPr lang="en-US" sz="1600" dirty="0">
                <a:solidFill>
                  <a:srgbClr val="222222"/>
                </a:solidFill>
                <a:latin typeface="Calibri" pitchFamily="34" charset="0"/>
                <a:ea typeface="Calibri" pitchFamily="34" charset="-122"/>
                <a:cs typeface="Calibri" pitchFamily="34" charset="-120"/>
              </a:rPr>
              <a:t>expected documentation gaps flagged</a:t>
            </a:r>
            <a:endParaRPr lang="en-US" sz="1600" dirty="0"/>
          </a:p>
        </p:txBody>
      </p:sp>
      <p:sp>
        <p:nvSpPr>
          <p:cNvPr id="9" name="Text 6"/>
          <p:cNvSpPr txBox="1"/>
          <p:nvPr/>
        </p:nvSpPr>
        <p:spPr>
          <a:xfrm>
            <a:off x="7040880" y="4389120"/>
            <a:ext cx="4572000" cy="731520"/>
          </a:xfrm>
          <a:prstGeom prst="rect">
            <a:avLst/>
          </a:prstGeom>
          <a:noFill/>
          <a:ln/>
        </p:spPr>
        <p:txBody>
          <a:bodyPr wrap="square" lIns="0" tIns="0" rIns="0" bIns="0" rtlCol="0" anchor="ctr"/>
          <a:lstStyle/>
          <a:p>
            <a:pPr indent="0" marL="0">
              <a:buNone/>
            </a:pPr>
            <a:r>
              <a:rPr lang="en-US" sz="3800" b="1" dirty="0">
                <a:solidFill>
                  <a:srgbClr val="4B2A8C"/>
                </a:solidFill>
                <a:latin typeface="Cambria" pitchFamily="34" charset="0"/>
                <a:ea typeface="Cambria" pitchFamily="34" charset="-122"/>
                <a:cs typeface="Cambria" pitchFamily="34" charset="-120"/>
              </a:rPr>
              <a:t>20 notes</a:t>
            </a:r>
            <a:endParaRPr lang="en-US" sz="3800" dirty="0"/>
          </a:p>
        </p:txBody>
      </p:sp>
      <p:sp>
        <p:nvSpPr>
          <p:cNvPr id="10" name="Text 7"/>
          <p:cNvSpPr txBox="1"/>
          <p:nvPr/>
        </p:nvSpPr>
        <p:spPr>
          <a:xfrm>
            <a:off x="7040880" y="5120640"/>
            <a:ext cx="4572000" cy="457200"/>
          </a:xfrm>
          <a:prstGeom prst="rect">
            <a:avLst/>
          </a:prstGeom>
          <a:noFill/>
          <a:ln/>
        </p:spPr>
        <p:txBody>
          <a:bodyPr wrap="square" lIns="0" tIns="0" rIns="0" bIns="0" rtlCol="0" anchor="ctr"/>
          <a:lstStyle/>
          <a:p>
            <a:pPr indent="0" marL="0">
              <a:buNone/>
            </a:pPr>
            <a:r>
              <a:rPr lang="en-US" sz="1600" dirty="0">
                <a:solidFill>
                  <a:srgbClr val="222222"/>
                </a:solidFill>
                <a:latin typeface="Calibri" pitchFamily="34" charset="0"/>
                <a:ea typeface="Calibri" pitchFamily="34" charset="-122"/>
                <a:cs typeface="Calibri" pitchFamily="34" charset="-120"/>
              </a:rPr>
              <a:t>synthetic gold set, gpt-oss-120b in both</a:t>
            </a:r>
            <a:endParaRPr lang="en-US" sz="1600" dirty="0"/>
          </a:p>
        </p:txBody>
      </p:sp>
      <p:sp>
        <p:nvSpPr>
          <p:cNvPr id="11" name="Text 8"/>
          <p:cNvSpPr txBox="1"/>
          <p:nvPr/>
        </p:nvSpPr>
        <p:spPr>
          <a:xfrm>
            <a:off x="548640" y="6035040"/>
            <a:ext cx="10972800" cy="365760"/>
          </a:xfrm>
          <a:prstGeom prst="rect">
            <a:avLst/>
          </a:prstGeom>
          <a:noFill/>
          <a:ln/>
        </p:spPr>
        <p:txBody>
          <a:bodyPr wrap="square" lIns="0" tIns="0" rIns="0" bIns="0" rtlCol="0" anchor="ctr"/>
          <a:lstStyle/>
          <a:p>
            <a:pPr indent="0" marL="0">
              <a:buNone/>
            </a:pPr>
            <a:r>
              <a:rPr lang="en-US" sz="1200" i="1" dirty="0">
                <a:solidFill>
                  <a:srgbClr val="5E5A6B"/>
                </a:solidFill>
                <a:latin typeface="Calibri" pitchFamily="34" charset="0"/>
                <a:ea typeface="Calibri" pitchFamily="34" charset="-122"/>
                <a:cs typeface="Calibri" pitchFamily="34" charset="-120"/>
              </a:rPr>
              <a:t>Synthetic notes. Expected codes checked against the FY 2027 guidelines, not by a certified coder.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1672" cy="320040"/>
          </a:xfrm>
          <a:prstGeom prst="rect">
            <a:avLst/>
          </a:prstGeom>
          <a:noFill/>
          <a:ln/>
        </p:spPr>
        <p:txBody>
          <a:bodyPr wrap="square" lIns="0" tIns="0" rIns="0" bIns="0" rtlCol="0" anchor="ctr"/>
          <a:lstStyle/>
          <a:p>
            <a:pPr indent="0" marL="0">
              <a:buNone/>
            </a:pPr>
            <a:r>
              <a:rPr lang="en-US" sz="1400" b="1" spc="300" kern="0" dirty="0">
                <a:solidFill>
                  <a:srgbClr val="D6246E"/>
                </a:solidFill>
                <a:latin typeface="Calibri" pitchFamily="34" charset="0"/>
                <a:ea typeface="Calibri" pitchFamily="34" charset="-122"/>
                <a:cs typeface="Calibri" pitchFamily="34" charset="-120"/>
              </a:rPr>
              <a:t>RECOMMENDATIONS AND FUTURE SCOPE</a:t>
            </a:r>
            <a:endParaRPr lang="en-US" sz="140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3200" b="1" dirty="0">
                <a:solidFill>
                  <a:srgbClr val="2A1454"/>
                </a:solidFill>
                <a:latin typeface="Cambria" pitchFamily="34" charset="0"/>
                <a:ea typeface="Cambria" pitchFamily="34" charset="-122"/>
                <a:cs typeface="Cambria" pitchFamily="34" charset="-120"/>
              </a:rPr>
              <a:t>Four actions for Cotiviti, and what comes next</a:t>
            </a:r>
            <a:endParaRPr lang="en-US" sz="3200" dirty="0"/>
          </a:p>
        </p:txBody>
      </p:sp>
      <p:sp>
        <p:nvSpPr>
          <p:cNvPr id="4" name="Shape 2"/>
          <p:cNvSpPr/>
          <p:nvPr/>
        </p:nvSpPr>
        <p:spPr>
          <a:xfrm>
            <a:off x="548640" y="1417320"/>
            <a:ext cx="5394960" cy="1508760"/>
          </a:xfrm>
          <a:prstGeom prst="roundRect">
            <a:avLst>
              <a:gd name="adj" fmla="val 7273"/>
            </a:avLst>
          </a:prstGeom>
          <a:solidFill>
            <a:srgbClr val="EFEAF8"/>
          </a:solidFill>
          <a:ln w="12700">
            <a:solidFill>
              <a:srgbClr val="EFEAF8"/>
            </a:solidFill>
            <a:prstDash val="solid"/>
          </a:ln>
        </p:spPr>
      </p:sp>
      <p:sp>
        <p:nvSpPr>
          <p:cNvPr id="5" name="Shape 3"/>
          <p:cNvSpPr/>
          <p:nvPr/>
        </p:nvSpPr>
        <p:spPr>
          <a:xfrm>
            <a:off x="777240" y="1645920"/>
            <a:ext cx="548640" cy="548640"/>
          </a:xfrm>
          <a:prstGeom prst="ellipse">
            <a:avLst/>
          </a:prstGeom>
          <a:solidFill>
            <a:srgbClr val="4B2A8C"/>
          </a:solidFill>
          <a:ln w="12700">
            <a:solidFill>
              <a:srgbClr val="4B2A8C"/>
            </a:solidFill>
            <a:prstDash val="solid"/>
          </a:ln>
        </p:spPr>
      </p:sp>
      <p:pic>
        <p:nvPicPr>
          <p:cNvPr id="6" name="Image 0" descr="preencoded.png">    </p:cNvPr>
          <p:cNvPicPr>
            <a:picLocks noChangeAspect="1"/>
          </p:cNvPicPr>
          <p:nvPr/>
        </p:nvPicPr>
        <p:blipFill>
          <a:blip r:embed="rId1"/>
          <a:stretch>
            <a:fillRect/>
          </a:stretch>
        </p:blipFill>
        <p:spPr>
          <a:xfrm>
            <a:off x="897941" y="1766621"/>
            <a:ext cx="307238" cy="307238"/>
          </a:xfrm>
          <a:prstGeom prst="rect">
            <a:avLst/>
          </a:prstGeom>
        </p:spPr>
      </p:pic>
      <p:sp>
        <p:nvSpPr>
          <p:cNvPr id="7" name="Text 4"/>
          <p:cNvSpPr txBox="1"/>
          <p:nvPr/>
        </p:nvSpPr>
        <p:spPr>
          <a:xfrm>
            <a:off x="1508760" y="1600200"/>
            <a:ext cx="4297680" cy="594360"/>
          </a:xfrm>
          <a:prstGeom prst="rect">
            <a:avLst/>
          </a:prstGeom>
          <a:noFill/>
          <a:ln/>
        </p:spPr>
        <p:txBody>
          <a:bodyPr wrap="square" lIns="0" tIns="0" rIns="0" bIns="0" rtlCol="0" anchor="ctr"/>
          <a:lstStyle/>
          <a:p>
            <a:pPr indent="0" marL="0">
              <a:buNone/>
            </a:pPr>
            <a:r>
              <a:rPr lang="en-US" sz="1800" b="1" dirty="0">
                <a:solidFill>
                  <a:srgbClr val="2A1454"/>
                </a:solidFill>
                <a:latin typeface="Calibri" pitchFamily="34" charset="0"/>
                <a:ea typeface="Calibri" pitchFamily="34" charset="-122"/>
                <a:cs typeface="Calibri" pitchFamily="34" charset="-120"/>
              </a:rPr>
              <a:t>Pair every AI-drafted rule with tests</a:t>
            </a:r>
            <a:endParaRPr lang="en-US" sz="1800" dirty="0"/>
          </a:p>
        </p:txBody>
      </p:sp>
      <p:sp>
        <p:nvSpPr>
          <p:cNvPr id="8" name="Text 5"/>
          <p:cNvSpPr txBox="1"/>
          <p:nvPr/>
        </p:nvSpPr>
        <p:spPr>
          <a:xfrm>
            <a:off x="1508760" y="2194560"/>
            <a:ext cx="4297680" cy="640080"/>
          </a:xfrm>
          <a:prstGeom prst="rect">
            <a:avLst/>
          </a:prstGeom>
          <a:noFill/>
          <a:ln/>
        </p:spPr>
        <p:txBody>
          <a:bodyPr wrap="square" lIns="0" tIns="0" rIns="0" bIns="0" rtlCol="0" anchor="t"/>
          <a:lstStyle/>
          <a:p>
            <a:pPr indent="0" marL="0">
              <a:buNone/>
            </a:pPr>
            <a:r>
              <a:rPr lang="en-US" sz="1300" dirty="0">
                <a:solidFill>
                  <a:srgbClr val="222222"/>
                </a:solidFill>
                <a:latin typeface="Calibri" pitchFamily="34" charset="0"/>
                <a:ea typeface="Calibri" pitchFamily="34" charset="-122"/>
                <a:cs typeface="Calibri" pitchFamily="34" charset="-120"/>
              </a:rPr>
              <a:t>Each drafted rule in Payment Policy Management passes test claims before an analyst approves it.</a:t>
            </a:r>
            <a:endParaRPr lang="en-US" sz="1300" dirty="0"/>
          </a:p>
        </p:txBody>
      </p:sp>
      <p:sp>
        <p:nvSpPr>
          <p:cNvPr id="9" name="Shape 6"/>
          <p:cNvSpPr/>
          <p:nvPr/>
        </p:nvSpPr>
        <p:spPr>
          <a:xfrm>
            <a:off x="6217920" y="1417320"/>
            <a:ext cx="5394960" cy="1508760"/>
          </a:xfrm>
          <a:prstGeom prst="roundRect">
            <a:avLst>
              <a:gd name="adj" fmla="val 7273"/>
            </a:avLst>
          </a:prstGeom>
          <a:solidFill>
            <a:srgbClr val="EFEAF8"/>
          </a:solidFill>
          <a:ln w="12700">
            <a:solidFill>
              <a:srgbClr val="EFEAF8"/>
            </a:solidFill>
            <a:prstDash val="solid"/>
          </a:ln>
        </p:spPr>
      </p:sp>
      <p:sp>
        <p:nvSpPr>
          <p:cNvPr id="10" name="Shape 7"/>
          <p:cNvSpPr/>
          <p:nvPr/>
        </p:nvSpPr>
        <p:spPr>
          <a:xfrm>
            <a:off x="6446520" y="1645920"/>
            <a:ext cx="548640" cy="548640"/>
          </a:xfrm>
          <a:prstGeom prst="ellipse">
            <a:avLst/>
          </a:prstGeom>
          <a:solidFill>
            <a:srgbClr val="4B2A8C"/>
          </a:solidFill>
          <a:ln w="12700">
            <a:solidFill>
              <a:srgbClr val="4B2A8C"/>
            </a:solidFill>
            <a:prstDash val="solid"/>
          </a:ln>
        </p:spPr>
      </p:sp>
      <p:pic>
        <p:nvPicPr>
          <p:cNvPr id="11" name="Image 1" descr="preencoded.png">    </p:cNvPr>
          <p:cNvPicPr>
            <a:picLocks noChangeAspect="1"/>
          </p:cNvPicPr>
          <p:nvPr/>
        </p:nvPicPr>
        <p:blipFill>
          <a:blip r:embed="rId2"/>
          <a:stretch>
            <a:fillRect/>
          </a:stretch>
        </p:blipFill>
        <p:spPr>
          <a:xfrm>
            <a:off x="6567221" y="1766621"/>
            <a:ext cx="307238" cy="307238"/>
          </a:xfrm>
          <a:prstGeom prst="rect">
            <a:avLst/>
          </a:prstGeom>
        </p:spPr>
      </p:pic>
      <p:sp>
        <p:nvSpPr>
          <p:cNvPr id="12" name="Text 8"/>
          <p:cNvSpPr txBox="1"/>
          <p:nvPr/>
        </p:nvSpPr>
        <p:spPr>
          <a:xfrm>
            <a:off x="7178040" y="1600200"/>
            <a:ext cx="4297680" cy="594360"/>
          </a:xfrm>
          <a:prstGeom prst="rect">
            <a:avLst/>
          </a:prstGeom>
          <a:noFill/>
          <a:ln/>
        </p:spPr>
        <p:txBody>
          <a:bodyPr wrap="square" lIns="0" tIns="0" rIns="0" bIns="0" rtlCol="0" anchor="ctr"/>
          <a:lstStyle/>
          <a:p>
            <a:pPr indent="0" marL="0">
              <a:buNone/>
            </a:pPr>
            <a:r>
              <a:rPr lang="en-US" sz="1800" b="1" dirty="0">
                <a:solidFill>
                  <a:srgbClr val="2A1454"/>
                </a:solidFill>
                <a:latin typeface="Calibri" pitchFamily="34" charset="0"/>
                <a:ea typeface="Calibri" pitchFamily="34" charset="-122"/>
                <a:cs typeface="Calibri" pitchFamily="34" charset="-120"/>
              </a:rPr>
              <a:t>Put the evidence in every finding</a:t>
            </a:r>
            <a:endParaRPr lang="en-US" sz="1800" dirty="0"/>
          </a:p>
        </p:txBody>
      </p:sp>
      <p:sp>
        <p:nvSpPr>
          <p:cNvPr id="13" name="Text 9"/>
          <p:cNvSpPr txBox="1"/>
          <p:nvPr/>
        </p:nvSpPr>
        <p:spPr>
          <a:xfrm>
            <a:off x="7178040" y="2194560"/>
            <a:ext cx="4297680" cy="640080"/>
          </a:xfrm>
          <a:prstGeom prst="rect">
            <a:avLst/>
          </a:prstGeom>
          <a:noFill/>
          <a:ln/>
        </p:spPr>
        <p:txBody>
          <a:bodyPr wrap="square" lIns="0" tIns="0" rIns="0" bIns="0" rtlCol="0" anchor="t"/>
          <a:lstStyle/>
          <a:p>
            <a:pPr indent="0" marL="0">
              <a:buNone/>
            </a:pPr>
            <a:r>
              <a:rPr lang="en-US" sz="1300" dirty="0">
                <a:solidFill>
                  <a:srgbClr val="222222"/>
                </a:solidFill>
                <a:latin typeface="Calibri" pitchFamily="34" charset="0"/>
                <a:ea typeface="Calibri" pitchFamily="34" charset="-122"/>
                <a:cs typeface="Calibri" pitchFamily="34" charset="-120"/>
              </a:rPr>
              <a:t>Show the chart sentence and policy section behind each Coding and Clinical Chart Validation finding.</a:t>
            </a:r>
            <a:endParaRPr lang="en-US" sz="1300" dirty="0"/>
          </a:p>
        </p:txBody>
      </p:sp>
      <p:sp>
        <p:nvSpPr>
          <p:cNvPr id="14" name="Shape 10"/>
          <p:cNvSpPr/>
          <p:nvPr/>
        </p:nvSpPr>
        <p:spPr>
          <a:xfrm>
            <a:off x="548640" y="3108960"/>
            <a:ext cx="5394960" cy="1508760"/>
          </a:xfrm>
          <a:prstGeom prst="roundRect">
            <a:avLst>
              <a:gd name="adj" fmla="val 7273"/>
            </a:avLst>
          </a:prstGeom>
          <a:solidFill>
            <a:srgbClr val="EFEAF8"/>
          </a:solidFill>
          <a:ln w="12700">
            <a:solidFill>
              <a:srgbClr val="EFEAF8"/>
            </a:solidFill>
            <a:prstDash val="solid"/>
          </a:ln>
        </p:spPr>
      </p:sp>
      <p:sp>
        <p:nvSpPr>
          <p:cNvPr id="15" name="Shape 11"/>
          <p:cNvSpPr/>
          <p:nvPr/>
        </p:nvSpPr>
        <p:spPr>
          <a:xfrm>
            <a:off x="777240" y="3337560"/>
            <a:ext cx="548640" cy="548640"/>
          </a:xfrm>
          <a:prstGeom prst="ellipse">
            <a:avLst/>
          </a:prstGeom>
          <a:solidFill>
            <a:srgbClr val="4B2A8C"/>
          </a:solidFill>
          <a:ln w="12700">
            <a:solidFill>
              <a:srgbClr val="4B2A8C"/>
            </a:solidFill>
            <a:prstDash val="solid"/>
          </a:ln>
        </p:spPr>
      </p:sp>
      <p:pic>
        <p:nvPicPr>
          <p:cNvPr id="16" name="Image 2" descr="preencoded.png">    </p:cNvPr>
          <p:cNvPicPr>
            <a:picLocks noChangeAspect="1"/>
          </p:cNvPicPr>
          <p:nvPr/>
        </p:nvPicPr>
        <p:blipFill>
          <a:blip r:embed="rId3"/>
          <a:stretch>
            <a:fillRect/>
          </a:stretch>
        </p:blipFill>
        <p:spPr>
          <a:xfrm>
            <a:off x="897941" y="3458261"/>
            <a:ext cx="307238" cy="307238"/>
          </a:xfrm>
          <a:prstGeom prst="rect">
            <a:avLst/>
          </a:prstGeom>
        </p:spPr>
      </p:pic>
      <p:sp>
        <p:nvSpPr>
          <p:cNvPr id="17" name="Text 12"/>
          <p:cNvSpPr txBox="1"/>
          <p:nvPr/>
        </p:nvSpPr>
        <p:spPr>
          <a:xfrm>
            <a:off x="1508760" y="3291840"/>
            <a:ext cx="4297680" cy="594360"/>
          </a:xfrm>
          <a:prstGeom prst="rect">
            <a:avLst/>
          </a:prstGeom>
          <a:noFill/>
          <a:ln/>
        </p:spPr>
        <p:txBody>
          <a:bodyPr wrap="square" lIns="0" tIns="0" rIns="0" bIns="0" rtlCol="0" anchor="ctr"/>
          <a:lstStyle/>
          <a:p>
            <a:pPr indent="0" marL="0">
              <a:buNone/>
            </a:pPr>
            <a:r>
              <a:rPr lang="en-US" sz="1800" b="1" dirty="0">
                <a:solidFill>
                  <a:srgbClr val="2A1454"/>
                </a:solidFill>
                <a:latin typeface="Calibri" pitchFamily="34" charset="0"/>
                <a:ea typeface="Calibri" pitchFamily="34" charset="-122"/>
                <a:cs typeface="Calibri" pitchFamily="34" charset="-120"/>
              </a:rPr>
              <a:t>Automate the October 1 update</a:t>
            </a:r>
            <a:endParaRPr lang="en-US" sz="1800" dirty="0"/>
          </a:p>
        </p:txBody>
      </p:sp>
      <p:sp>
        <p:nvSpPr>
          <p:cNvPr id="18" name="Text 13"/>
          <p:cNvSpPr txBox="1"/>
          <p:nvPr/>
        </p:nvSpPr>
        <p:spPr>
          <a:xfrm>
            <a:off x="1508760" y="3886200"/>
            <a:ext cx="4297680" cy="640080"/>
          </a:xfrm>
          <a:prstGeom prst="rect">
            <a:avLst/>
          </a:prstGeom>
          <a:noFill/>
          <a:ln/>
        </p:spPr>
        <p:txBody>
          <a:bodyPr wrap="square" lIns="0" tIns="0" rIns="0" bIns="0" rtlCol="0" anchor="t"/>
          <a:lstStyle/>
          <a:p>
            <a:pPr indent="0" marL="0">
              <a:buNone/>
            </a:pPr>
            <a:r>
              <a:rPr lang="en-US" sz="1300" dirty="0">
                <a:solidFill>
                  <a:srgbClr val="222222"/>
                </a:solidFill>
                <a:latin typeface="Calibri" pitchFamily="34" charset="0"/>
                <a:ea typeface="Calibri" pitchFamily="34" charset="-122"/>
                <a:cs typeface="Calibri" pitchFamily="34" charset="-120"/>
              </a:rPr>
              <a:t>Find the rules each CMS release affects and rerun their tests before the new codes go live.</a:t>
            </a:r>
            <a:endParaRPr lang="en-US" sz="1300" dirty="0"/>
          </a:p>
        </p:txBody>
      </p:sp>
      <p:sp>
        <p:nvSpPr>
          <p:cNvPr id="19" name="Shape 14"/>
          <p:cNvSpPr/>
          <p:nvPr/>
        </p:nvSpPr>
        <p:spPr>
          <a:xfrm>
            <a:off x="6217920" y="3108960"/>
            <a:ext cx="5394960" cy="1508760"/>
          </a:xfrm>
          <a:prstGeom prst="roundRect">
            <a:avLst>
              <a:gd name="adj" fmla="val 7273"/>
            </a:avLst>
          </a:prstGeom>
          <a:solidFill>
            <a:srgbClr val="EFEAF8"/>
          </a:solidFill>
          <a:ln w="12700">
            <a:solidFill>
              <a:srgbClr val="EFEAF8"/>
            </a:solidFill>
            <a:prstDash val="solid"/>
          </a:ln>
        </p:spPr>
      </p:sp>
      <p:sp>
        <p:nvSpPr>
          <p:cNvPr id="20" name="Shape 15"/>
          <p:cNvSpPr/>
          <p:nvPr/>
        </p:nvSpPr>
        <p:spPr>
          <a:xfrm>
            <a:off x="6446520" y="3337560"/>
            <a:ext cx="548640" cy="548640"/>
          </a:xfrm>
          <a:prstGeom prst="ellipse">
            <a:avLst/>
          </a:prstGeom>
          <a:solidFill>
            <a:srgbClr val="4B2A8C"/>
          </a:solidFill>
          <a:ln w="12700">
            <a:solidFill>
              <a:srgbClr val="4B2A8C"/>
            </a:solidFill>
            <a:prstDash val="solid"/>
          </a:ln>
        </p:spPr>
      </p:sp>
      <p:pic>
        <p:nvPicPr>
          <p:cNvPr id="21" name="Image 3" descr="preencoded.png">    </p:cNvPr>
          <p:cNvPicPr>
            <a:picLocks noChangeAspect="1"/>
          </p:cNvPicPr>
          <p:nvPr/>
        </p:nvPicPr>
        <p:blipFill>
          <a:blip r:embed="rId4"/>
          <a:stretch>
            <a:fillRect/>
          </a:stretch>
        </p:blipFill>
        <p:spPr>
          <a:xfrm>
            <a:off x="6567221" y="3458261"/>
            <a:ext cx="307238" cy="307238"/>
          </a:xfrm>
          <a:prstGeom prst="rect">
            <a:avLst/>
          </a:prstGeom>
        </p:spPr>
      </p:pic>
      <p:sp>
        <p:nvSpPr>
          <p:cNvPr id="22" name="Text 16"/>
          <p:cNvSpPr txBox="1"/>
          <p:nvPr/>
        </p:nvSpPr>
        <p:spPr>
          <a:xfrm>
            <a:off x="7178040" y="3291840"/>
            <a:ext cx="4297680" cy="594360"/>
          </a:xfrm>
          <a:prstGeom prst="rect">
            <a:avLst/>
          </a:prstGeom>
          <a:noFill/>
          <a:ln/>
        </p:spPr>
        <p:txBody>
          <a:bodyPr wrap="square" lIns="0" tIns="0" rIns="0" bIns="0" rtlCol="0" anchor="ctr"/>
          <a:lstStyle/>
          <a:p>
            <a:pPr indent="0" marL="0">
              <a:buNone/>
            </a:pPr>
            <a:r>
              <a:rPr lang="en-US" sz="1800" b="1" dirty="0">
                <a:solidFill>
                  <a:srgbClr val="2A1454"/>
                </a:solidFill>
                <a:latin typeface="Calibri" pitchFamily="34" charset="0"/>
                <a:ea typeface="Calibri" pitchFamily="34" charset="-122"/>
                <a:cs typeface="Calibri" pitchFamily="34" charset="-120"/>
              </a:rPr>
              <a:t>Measure AI before trusting it</a:t>
            </a:r>
            <a:endParaRPr lang="en-US" sz="1800" dirty="0"/>
          </a:p>
        </p:txBody>
      </p:sp>
      <p:sp>
        <p:nvSpPr>
          <p:cNvPr id="23" name="Text 17"/>
          <p:cNvSpPr txBox="1"/>
          <p:nvPr/>
        </p:nvSpPr>
        <p:spPr>
          <a:xfrm>
            <a:off x="7178040" y="3886200"/>
            <a:ext cx="4297680" cy="640080"/>
          </a:xfrm>
          <a:prstGeom prst="rect">
            <a:avLst/>
          </a:prstGeom>
          <a:noFill/>
          <a:ln/>
        </p:spPr>
        <p:txBody>
          <a:bodyPr wrap="square" lIns="0" tIns="0" rIns="0" bIns="0" rtlCol="0" anchor="t"/>
          <a:lstStyle/>
          <a:p>
            <a:pPr indent="0" marL="0">
              <a:buNone/>
            </a:pPr>
            <a:r>
              <a:rPr lang="en-US" sz="1300" dirty="0">
                <a:solidFill>
                  <a:srgbClr val="222222"/>
                </a:solidFill>
                <a:latin typeface="Calibri" pitchFamily="34" charset="0"/>
                <a:ea typeface="Calibri" pitchFamily="34" charset="-122"/>
                <a:cs typeface="Calibri" pitchFamily="34" charset="-120"/>
              </a:rPr>
              <a:t>Track invalid codes and evidence, and compare against an AI-only baseline.</a:t>
            </a:r>
            <a:endParaRPr lang="en-US" sz="1300" dirty="0"/>
          </a:p>
        </p:txBody>
      </p:sp>
      <p:sp>
        <p:nvSpPr>
          <p:cNvPr id="24" name="Shape 18"/>
          <p:cNvSpPr/>
          <p:nvPr/>
        </p:nvSpPr>
        <p:spPr>
          <a:xfrm>
            <a:off x="548640" y="4892040"/>
            <a:ext cx="11064240" cy="1417320"/>
          </a:xfrm>
          <a:prstGeom prst="roundRect">
            <a:avLst>
              <a:gd name="adj" fmla="val 7742"/>
            </a:avLst>
          </a:prstGeom>
          <a:solidFill>
            <a:srgbClr val="FBE9F0"/>
          </a:solidFill>
          <a:ln w="12700">
            <a:solidFill>
              <a:srgbClr val="FBE9F0"/>
            </a:solidFill>
            <a:prstDash val="solid"/>
          </a:ln>
        </p:spPr>
      </p:sp>
      <p:sp>
        <p:nvSpPr>
          <p:cNvPr id="25" name="Shape 19"/>
          <p:cNvSpPr/>
          <p:nvPr/>
        </p:nvSpPr>
        <p:spPr>
          <a:xfrm>
            <a:off x="777240" y="5321808"/>
            <a:ext cx="548640" cy="548640"/>
          </a:xfrm>
          <a:prstGeom prst="ellipse">
            <a:avLst/>
          </a:prstGeom>
          <a:solidFill>
            <a:srgbClr val="D6246E"/>
          </a:solidFill>
          <a:ln w="12700">
            <a:solidFill>
              <a:srgbClr val="D6246E"/>
            </a:solidFill>
            <a:prstDash val="solid"/>
          </a:ln>
        </p:spPr>
      </p:sp>
      <p:pic>
        <p:nvPicPr>
          <p:cNvPr id="26" name="Image 4" descr="preencoded.png">    </p:cNvPr>
          <p:cNvPicPr>
            <a:picLocks noChangeAspect="1"/>
          </p:cNvPicPr>
          <p:nvPr/>
        </p:nvPicPr>
        <p:blipFill>
          <a:blip r:embed="rId5"/>
          <a:stretch>
            <a:fillRect/>
          </a:stretch>
        </p:blipFill>
        <p:spPr>
          <a:xfrm>
            <a:off x="897941" y="5442509"/>
            <a:ext cx="307238" cy="307238"/>
          </a:xfrm>
          <a:prstGeom prst="rect">
            <a:avLst/>
          </a:prstGeom>
        </p:spPr>
      </p:pic>
      <p:sp>
        <p:nvSpPr>
          <p:cNvPr id="27" name="Text 20"/>
          <p:cNvSpPr txBox="1"/>
          <p:nvPr/>
        </p:nvSpPr>
        <p:spPr>
          <a:xfrm>
            <a:off x="1508760" y="5321808"/>
            <a:ext cx="2743200" cy="548640"/>
          </a:xfrm>
          <a:prstGeom prst="rect">
            <a:avLst/>
          </a:prstGeom>
          <a:noFill/>
          <a:ln/>
        </p:spPr>
        <p:txBody>
          <a:bodyPr wrap="square" lIns="0" tIns="0" rIns="0" bIns="0" rtlCol="0" anchor="ctr"/>
          <a:lstStyle/>
          <a:p>
            <a:pPr indent="0" marL="0">
              <a:buNone/>
            </a:pPr>
            <a:r>
              <a:rPr lang="en-US" sz="1800" b="1" dirty="0">
                <a:solidFill>
                  <a:srgbClr val="D6246E"/>
                </a:solidFill>
                <a:latin typeface="Calibri" pitchFamily="34" charset="0"/>
                <a:ea typeface="Calibri" pitchFamily="34" charset="-122"/>
                <a:cs typeface="Calibri" pitchFamily="34" charset="-120"/>
              </a:rPr>
              <a:t>Future scope</a:t>
            </a:r>
            <a:endParaRPr lang="en-US" sz="1800" dirty="0"/>
          </a:p>
        </p:txBody>
      </p:sp>
      <p:sp>
        <p:nvSpPr>
          <p:cNvPr id="28" name="Text 21"/>
          <p:cNvSpPr txBox="1"/>
          <p:nvPr/>
        </p:nvSpPr>
        <p:spPr>
          <a:xfrm>
            <a:off x="3931920" y="5230368"/>
            <a:ext cx="2423160" cy="914400"/>
          </a:xfrm>
          <a:prstGeom prst="rect">
            <a:avLst/>
          </a:prstGeom>
          <a:noFill/>
          <a:ln/>
        </p:spPr>
        <p:txBody>
          <a:bodyPr wrap="square" lIns="0" tIns="0" rIns="0" bIns="0" rtlCol="0" anchor="t"/>
          <a:lstStyle/>
          <a:p>
            <a:pPr indent="0" marL="0">
              <a:buNone/>
            </a:pPr>
            <a:r>
              <a:rPr lang="en-US" sz="1400" b="1" dirty="0">
                <a:solidFill>
                  <a:srgbClr val="222222"/>
                </a:solidFill>
                <a:latin typeface="Calibri" pitchFamily="34" charset="0"/>
                <a:ea typeface="Calibri" pitchFamily="34" charset="-122"/>
                <a:cs typeface="Calibri" pitchFamily="34" charset="-120"/>
              </a:rPr>
              <a:t>Coder-reviewed test set</a:t>
            </a:r>
            <a:endParaRPr lang="en-US" sz="1400" dirty="0"/>
          </a:p>
          <a:p>
            <a:pPr indent="0" marL="0">
              <a:buNone/>
            </a:pPr>
            <a:r>
              <a:rPr lang="en-US" sz="1200" dirty="0">
                <a:solidFill>
                  <a:srgbClr val="5E5A6B"/>
                </a:solidFill>
                <a:latin typeface="Calibri" pitchFamily="34" charset="0"/>
                <a:ea typeface="Calibri" pitchFamily="34" charset="-122"/>
                <a:cs typeface="Calibri" pitchFamily="34" charset="-120"/>
              </a:rPr>
              <a:t>A larger gold set checked by certified coders</a:t>
            </a:r>
            <a:endParaRPr lang="en-US" sz="1400" dirty="0"/>
          </a:p>
        </p:txBody>
      </p:sp>
      <p:sp>
        <p:nvSpPr>
          <p:cNvPr id="29" name="Text 22"/>
          <p:cNvSpPr txBox="1"/>
          <p:nvPr/>
        </p:nvSpPr>
        <p:spPr>
          <a:xfrm>
            <a:off x="6492240" y="5230368"/>
            <a:ext cx="2423160" cy="914400"/>
          </a:xfrm>
          <a:prstGeom prst="rect">
            <a:avLst/>
          </a:prstGeom>
          <a:noFill/>
          <a:ln/>
        </p:spPr>
        <p:txBody>
          <a:bodyPr wrap="square" lIns="0" tIns="0" rIns="0" bIns="0" rtlCol="0" anchor="t"/>
          <a:lstStyle/>
          <a:p>
            <a:pPr indent="0" marL="0">
              <a:buNone/>
            </a:pPr>
            <a:r>
              <a:rPr lang="en-US" sz="1400" b="1" dirty="0">
                <a:solidFill>
                  <a:srgbClr val="222222"/>
                </a:solidFill>
                <a:latin typeface="Calibri" pitchFamily="34" charset="0"/>
                <a:ea typeface="Calibri" pitchFamily="34" charset="-122"/>
                <a:cs typeface="Calibri" pitchFamily="34" charset="-120"/>
              </a:rPr>
              <a:t>More rule families</a:t>
            </a:r>
            <a:endParaRPr lang="en-US" sz="1400" dirty="0"/>
          </a:p>
          <a:p>
            <a:pPr indent="0" marL="0">
              <a:buNone/>
            </a:pPr>
            <a:r>
              <a:rPr lang="en-US" sz="1200" dirty="0">
                <a:solidFill>
                  <a:srgbClr val="5E5A6B"/>
                </a:solidFill>
                <a:latin typeface="Calibri" pitchFamily="34" charset="0"/>
                <a:ea typeface="Calibri" pitchFamily="34" charset="-122"/>
                <a:cs typeface="Calibri" pitchFamily="34" charset="-120"/>
              </a:rPr>
              <a:t>Beyond diabetes, kidney, and heart conditions</a:t>
            </a:r>
            <a:endParaRPr lang="en-US" sz="1400" dirty="0"/>
          </a:p>
        </p:txBody>
      </p:sp>
      <p:sp>
        <p:nvSpPr>
          <p:cNvPr id="30" name="Text 23"/>
          <p:cNvSpPr txBox="1"/>
          <p:nvPr/>
        </p:nvSpPr>
        <p:spPr>
          <a:xfrm>
            <a:off x="9052560" y="5230368"/>
            <a:ext cx="2423160" cy="914400"/>
          </a:xfrm>
          <a:prstGeom prst="rect">
            <a:avLst/>
          </a:prstGeom>
          <a:noFill/>
          <a:ln/>
        </p:spPr>
        <p:txBody>
          <a:bodyPr wrap="square" lIns="0" tIns="0" rIns="0" bIns="0" rtlCol="0" anchor="t"/>
          <a:lstStyle/>
          <a:p>
            <a:pPr indent="0" marL="0">
              <a:buNone/>
            </a:pPr>
            <a:r>
              <a:rPr lang="en-US" sz="1400" b="1" dirty="0">
                <a:solidFill>
                  <a:srgbClr val="222222"/>
                </a:solidFill>
                <a:latin typeface="Calibri" pitchFamily="34" charset="0"/>
                <a:ea typeface="Calibri" pitchFamily="34" charset="-122"/>
                <a:cs typeface="Calibri" pitchFamily="34" charset="-120"/>
              </a:rPr>
              <a:t>Procedure code checks</a:t>
            </a:r>
            <a:endParaRPr lang="en-US" sz="1400" dirty="0"/>
          </a:p>
          <a:p>
            <a:pPr indent="0" marL="0">
              <a:buNone/>
            </a:pPr>
            <a:r>
              <a:rPr lang="en-US" sz="1200" dirty="0">
                <a:solidFill>
                  <a:srgbClr val="5E5A6B"/>
                </a:solidFill>
                <a:latin typeface="Calibri" pitchFamily="34" charset="0"/>
                <a:ea typeface="Calibri" pitchFamily="34" charset="-122"/>
                <a:cs typeface="Calibri" pitchFamily="34" charset="-120"/>
              </a:rPr>
              <a:t>CPT and NCCI rules, already designed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A1454"/>
        </a:solidFill>
      </p:bgPr>
    </p:bg>
    <p:spTree>
      <p:nvGrpSpPr>
        <p:cNvPr id="1" name=""/>
        <p:cNvGrpSpPr/>
        <p:nvPr/>
      </p:nvGrpSpPr>
      <p:grpSpPr>
        <a:xfrm>
          <a:off x="0" y="0"/>
          <a:ext cx="0" cy="0"/>
          <a:chOff x="0" y="0"/>
          <a:chExt cx="0" cy="0"/>
        </a:xfrm>
      </p:grpSpPr>
      <p:sp>
        <p:nvSpPr>
          <p:cNvPr id="2" name="Text 0"/>
          <p:cNvSpPr txBox="1"/>
          <p:nvPr/>
        </p:nvSpPr>
        <p:spPr>
          <a:xfrm>
            <a:off x="731520" y="1920240"/>
            <a:ext cx="10515600" cy="14630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Use AI to read. Use code to decide. Keep the expert in charge.</a:t>
            </a:r>
            <a:endParaRPr lang="en-US" sz="4000" dirty="0"/>
          </a:p>
        </p:txBody>
      </p:sp>
      <p:sp>
        <p:nvSpPr>
          <p:cNvPr id="3" name="Text 1"/>
          <p:cNvSpPr txBox="1"/>
          <p:nvPr/>
        </p:nvSpPr>
        <p:spPr>
          <a:xfrm>
            <a:off x="731520" y="4663440"/>
            <a:ext cx="10058400" cy="457200"/>
          </a:xfrm>
          <a:prstGeom prst="rect">
            <a:avLst/>
          </a:prstGeom>
          <a:noFill/>
          <a:ln/>
        </p:spPr>
        <p:txBody>
          <a:bodyPr wrap="square" lIns="0" tIns="0" rIns="0" bIns="0" rtlCol="0" anchor="ctr"/>
          <a:lstStyle/>
          <a:p>
            <a:pPr indent="0" marL="0">
              <a:buNone/>
            </a:pPr>
            <a:r>
              <a:rPr lang="en-US" sz="2000" b="1" dirty="0">
                <a:solidFill>
                  <a:srgbClr val="F28DB6"/>
                </a:solidFill>
                <a:latin typeface="Calibri" pitchFamily="34" charset="0"/>
                <a:ea typeface="Calibri" pitchFamily="34" charset="-122"/>
                <a:cs typeface="Calibri" pitchFamily="34" charset="-120"/>
              </a:rPr>
              <a:t>github.com/pavanbobba09/CodeCareAI</a:t>
            </a:r>
            <a:endParaRPr lang="en-US" sz="2000" dirty="0"/>
          </a:p>
        </p:txBody>
      </p:sp>
      <p:sp>
        <p:nvSpPr>
          <p:cNvPr id="4" name="Text 2"/>
          <p:cNvSpPr txBox="1"/>
          <p:nvPr/>
        </p:nvSpPr>
        <p:spPr>
          <a:xfrm>
            <a:off x="731520" y="5212080"/>
            <a:ext cx="10058400" cy="457200"/>
          </a:xfrm>
          <a:prstGeom prst="rect">
            <a:avLst/>
          </a:prstGeom>
          <a:noFill/>
          <a:ln/>
        </p:spPr>
        <p:txBody>
          <a:bodyPr wrap="square" lIns="0" tIns="0" rIns="0" bIns="0" rtlCol="0" anchor="ctr"/>
          <a:lstStyle/>
          <a:p>
            <a:pPr indent="0" marL="0">
              <a:buNone/>
            </a:pPr>
            <a:r>
              <a:rPr lang="en-US" sz="1600" dirty="0">
                <a:solidFill>
                  <a:srgbClr val="B7A8DE"/>
                </a:solidFill>
                <a:latin typeface="Calibri" pitchFamily="34" charset="0"/>
                <a:ea typeface="Calibri" pitchFamily="34" charset="-122"/>
                <a:cs typeface="Calibri" pitchFamily="34" charset="-120"/>
              </a:rPr>
              <a:t>Thank you  |  Sai Pavan Tej Bobba</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2026-09-29T22:06:11Z</dcterms:created>
  <dcterms:modified xsi:type="dcterms:W3CDTF">2026-09-29T22:06:11Z</dcterms:modified>
</cp:coreProperties>
</file>